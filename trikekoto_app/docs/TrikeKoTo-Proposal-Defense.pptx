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panel. I am Jelo Jian Sabroso, and this is my proposal: TrikeKoTo, a tricycle ride-hailing and dispatch system built for TODA chapters.
In one sentence: a commuter books the nearest available TODA tricycle from a phone, while the chapter stays in control of who drives, what the fare is, and who can use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sides of one problem. Commuters wait blind. Drivers waste fuel looking for passengers. And informal bookings leave no record, which matters for safety and for the chapter.
Close with the gap: existing apps do not serve TODA tricycles, or they bypass the TODA structure that already governs who may drive and what they may charge.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question the panel will ask first: why not Grab or Move It?
The answer is the right column. The chapter decides who drives. The fare is the ordinance tariff, so the app shows no price that could disagree with the posted one. Officers can approve, suspend, and stop bookings instantly. And every account is verified by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 these to the exact wording in your manuscript before presenting — edit this slide if your chapter 1 phrases them differently.
Specific objectives: one, booking and automatic nearest-driver dispatch; two, chapter administration and ID verification; three, data privacy under RA 10173; four, evaluation with real drivers and commuters.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limitations before the panel does — it reads as understanding, not weakness.
The biggest practical limit: it only works where drivers are online, so adoption by the chapter is what makes it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users, one Flutter codebase, and Firebase as the backend.
Key design point: the phone is never trusted. Every read and write is checked by server-side security rules, and the nearest-driver search runs in Cloud Functions, so no commuter app can see where every driver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greedy nearest-first search. Straight-line distance shortlists drivers inside the radius, then road distance picks the nearest. One driver is offered the ride at a time; if they decline or do not answer in 15 seconds, the next is asked.
If the commuter closes the app, a scheduled server job keeps the search going every minute.
Double booking is prevented by a transaction plus a security rule — tested with simultaneous accepts.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actual screens of the working prototype, in Filipino, which is the app's default language; English is one tap away.
Sign in with an SMS code, set pickup and drop-off — pickup fills in from GPS — then follow the tricycle on the map with the driver's name, plate and a call button.
If you do a live demo, do it here, and keep it to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Drivers need very little: one switch to go online, and big buttons for each step of the trip.
The chapter officer is the control point. They approve drivers and IDs, and the Approve button stays off until the ID photo has actually been opened — approval has to mean somebody looked.
The stop switch is the rollback for a pilot: it stops new bookings everywhere without reinstalling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Government IDs are sensitive personal information under RA 10173, so this was designed in, not added later.
Access is limited to chapter officers, consent is recorded, retention is enforced by a scheduled job at 90 days, and users can withdraw.
Say the last line yourself: real IDs will not be collected until the university ethics review is done. The panel will respect that you raised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development model name your manuscript uses (for example Agile or Rapid Application Development) — these six phases map onto either.
Evaluation: five and five is the usability-testing norm for finding most problems; SUS gives a standard score, reported with n = 10 so it is not overclaimed. The debrief question for drivers is the real acceptance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exact about status. The prototype is built, deployed and tested; it is not yet cleared for real users.
What remains all needs people: the chapter for testing, a native speaker for the Filipino, the ethics committee, and then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panel and invite questions.
If a question has no ready answer: "Thank you, I will include that in the revision." Do not guess.
Demo only if the signal in the room is good; otherwise use the screenshots on slides 8 and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097280"/>
            <a:ext cx="6949440" cy="320040"/>
          </a:xfrm>
          <a:prstGeom prst="rect">
            <a:avLst/>
          </a:prstGeom>
          <a:noFill/>
          <a:ln/>
        </p:spPr>
        <p:txBody>
          <a:bodyPr wrap="square" lIns="0" tIns="0" rIns="0" bIns="0" rtlCol="0" anchor="ctr"/>
          <a:lstStyle/>
          <a:p>
            <a:pPr indent="0" marL="0">
              <a:buNone/>
            </a:pPr>
            <a:r>
              <a:rPr lang="en-US" sz="1400" b="1" spc="300" kern="0" dirty="0">
                <a:solidFill>
                  <a:srgbClr val="F5A524"/>
                </a:solidFill>
                <a:latin typeface="Calibri" pitchFamily="34" charset="0"/>
                <a:ea typeface="Calibri" pitchFamily="34" charset="-122"/>
                <a:cs typeface="Calibri" pitchFamily="34" charset="-120"/>
              </a:rPr>
              <a:t>THESIS PROPOSAL DEFENSE</a:t>
            </a:r>
            <a:endParaRPr lang="en-US" sz="1400" dirty="0"/>
          </a:p>
        </p:txBody>
      </p:sp>
      <p:sp>
        <p:nvSpPr>
          <p:cNvPr id="3" name="Text 1"/>
          <p:cNvSpPr txBox="1"/>
          <p:nvPr/>
        </p:nvSpPr>
        <p:spPr>
          <a:xfrm>
            <a:off x="731520" y="1508760"/>
            <a:ext cx="6949440" cy="1097280"/>
          </a:xfrm>
          <a:prstGeom prst="rect">
            <a:avLst/>
          </a:prstGeom>
          <a:noFill/>
          <a:ln/>
        </p:spPr>
        <p:txBody>
          <a:bodyPr wrap="square" lIns="0" tIns="0" rIns="0" bIns="0" rtlCol="0" anchor="ctr"/>
          <a:lstStyle/>
          <a:p>
            <a:pPr indent="0" marL="0">
              <a:buNone/>
            </a:pPr>
            <a:r>
              <a:rPr lang="en-US" sz="6400" b="1" dirty="0">
                <a:solidFill>
                  <a:srgbClr val="FFFFFF"/>
                </a:solidFill>
                <a:latin typeface="Calibri" pitchFamily="34" charset="0"/>
                <a:ea typeface="Calibri" pitchFamily="34" charset="-122"/>
                <a:cs typeface="Calibri" pitchFamily="34" charset="-120"/>
              </a:rPr>
              <a:t>TrikeKoTo</a:t>
            </a:r>
            <a:endParaRPr lang="en-US" sz="6400" dirty="0"/>
          </a:p>
        </p:txBody>
      </p:sp>
      <p:sp>
        <p:nvSpPr>
          <p:cNvPr id="4" name="Text 2"/>
          <p:cNvSpPr txBox="1"/>
          <p:nvPr/>
        </p:nvSpPr>
        <p:spPr>
          <a:xfrm>
            <a:off x="731520" y="2651760"/>
            <a:ext cx="7589520" cy="1005840"/>
          </a:xfrm>
          <a:prstGeom prst="rect">
            <a:avLst/>
          </a:prstGeom>
          <a:noFill/>
          <a:ln/>
        </p:spPr>
        <p:txBody>
          <a:bodyPr wrap="square" lIns="0" tIns="0" rIns="0" bIns="0" rtlCol="0" anchor="t"/>
          <a:lstStyle/>
          <a:p>
            <a:pPr indent="0" marL="0">
              <a:buNone/>
            </a:pPr>
            <a:r>
              <a:rPr lang="en-US" sz="2600" dirty="0">
                <a:solidFill>
                  <a:srgbClr val="D6DEEA"/>
                </a:solidFill>
                <a:latin typeface="Calibri" pitchFamily="34" charset="0"/>
                <a:ea typeface="Calibri" pitchFamily="34" charset="-122"/>
                <a:cs typeface="Calibri" pitchFamily="34" charset="-120"/>
              </a:rPr>
              <a:t>A Tricycle Ride-Hailing and Dispatch System</a:t>
            </a:r>
            <a:endParaRPr lang="en-US" sz="2600" dirty="0"/>
          </a:p>
          <a:p>
            <a:pPr indent="0" marL="0">
              <a:buNone/>
            </a:pPr>
            <a:r>
              <a:rPr lang="en-US" sz="2600" dirty="0">
                <a:solidFill>
                  <a:srgbClr val="D6DEEA"/>
                </a:solidFill>
                <a:latin typeface="Calibri" pitchFamily="34" charset="0"/>
                <a:ea typeface="Calibri" pitchFamily="34" charset="-122"/>
                <a:cs typeface="Calibri" pitchFamily="34" charset="-120"/>
              </a:rPr>
              <a:t>for TODA Chapters</a:t>
            </a:r>
            <a:endParaRPr lang="en-US" sz="2600" dirty="0"/>
          </a:p>
        </p:txBody>
      </p:sp>
      <p:sp>
        <p:nvSpPr>
          <p:cNvPr id="5" name="Text 3"/>
          <p:cNvSpPr txBox="1"/>
          <p:nvPr/>
        </p:nvSpPr>
        <p:spPr>
          <a:xfrm>
            <a:off x="731520" y="4160520"/>
            <a:ext cx="6949440" cy="41148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Jelo Jian Sabroso</a:t>
            </a:r>
            <a:endParaRPr lang="en-US" sz="2000" dirty="0"/>
          </a:p>
        </p:txBody>
      </p:sp>
      <p:sp>
        <p:nvSpPr>
          <p:cNvPr id="6" name="Text 4"/>
          <p:cNvSpPr txBox="1"/>
          <p:nvPr/>
        </p:nvSpPr>
        <p:spPr>
          <a:xfrm>
            <a:off x="731520" y="4572000"/>
            <a:ext cx="6949440" cy="365760"/>
          </a:xfrm>
          <a:prstGeom prst="rect">
            <a:avLst/>
          </a:prstGeom>
          <a:noFill/>
          <a:ln/>
        </p:spPr>
        <p:txBody>
          <a:bodyPr wrap="square" lIns="0" tIns="0" rIns="0" bIns="0" rtlCol="0" anchor="ctr"/>
          <a:lstStyle/>
          <a:p>
            <a:pPr indent="0" marL="0">
              <a:buNone/>
            </a:pPr>
            <a:r>
              <a:rPr lang="en-US" sz="1600" dirty="0">
                <a:solidFill>
                  <a:srgbClr val="D6DEEA"/>
                </a:solidFill>
                <a:latin typeface="Calibri" pitchFamily="34" charset="0"/>
                <a:ea typeface="Calibri" pitchFamily="34" charset="-122"/>
                <a:cs typeface="Calibri" pitchFamily="34" charset="-120"/>
              </a:rPr>
              <a:t>President Ramon Magsaysay State University – San Marcelino</a:t>
            </a:r>
            <a:endParaRPr lang="en-US" sz="1600" dirty="0"/>
          </a:p>
        </p:txBody>
      </p:sp>
      <p:sp>
        <p:nvSpPr>
          <p:cNvPr id="7" name="Text 5"/>
          <p:cNvSpPr txBox="1"/>
          <p:nvPr/>
        </p:nvSpPr>
        <p:spPr>
          <a:xfrm>
            <a:off x="731520" y="4937760"/>
            <a:ext cx="6949440" cy="365760"/>
          </a:xfrm>
          <a:prstGeom prst="rect">
            <a:avLst/>
          </a:prstGeom>
          <a:noFill/>
          <a:ln/>
        </p:spPr>
        <p:txBody>
          <a:bodyPr wrap="square" lIns="0" tIns="0" rIns="0" bIns="0" rtlCol="0" anchor="ctr"/>
          <a:lstStyle/>
          <a:p>
            <a:pPr indent="0" marL="0">
              <a:buNone/>
            </a:pPr>
            <a:r>
              <a:rPr lang="en-US" sz="1600" dirty="0">
                <a:solidFill>
                  <a:srgbClr val="D6DEEA"/>
                </a:solidFill>
                <a:latin typeface="Calibri" pitchFamily="34" charset="0"/>
                <a:ea typeface="Calibri" pitchFamily="34" charset="-122"/>
                <a:cs typeface="Calibri" pitchFamily="34" charset="-120"/>
              </a:rPr>
              <a:t>September 2026</a:t>
            </a:r>
            <a:endParaRPr lang="en-US" sz="1600" dirty="0"/>
          </a:p>
        </p:txBody>
      </p:sp>
      <p:sp>
        <p:nvSpPr>
          <p:cNvPr id="8" name="Shape 6"/>
          <p:cNvSpPr/>
          <p:nvPr/>
        </p:nvSpPr>
        <p:spPr>
          <a:xfrm>
            <a:off x="8650224" y="466344"/>
            <a:ext cx="2826536" cy="5925312"/>
          </a:xfrm>
          <a:prstGeom prst="roundRect">
            <a:avLst>
              <a:gd name="adj" fmla="val 4529"/>
            </a:avLst>
          </a:prstGeom>
          <a:solidFill>
            <a:srgbClr val="FFFFFF"/>
          </a:solidFill>
          <a:ln w="12700">
            <a:solidFill>
              <a:srgbClr val="D3D9E2"/>
            </a:solidFill>
            <a:prstDash val="solid"/>
          </a:ln>
          <a:effectLst>
            <a:outerShdw sx="100000" sy="100000" kx="0" ky="0" algn="bl" rotWithShape="0" blurRad="101600" dist="25400" dir="5400000">
              <a:srgbClr val="000000">
                <a:alpha val="18000"/>
              </a:srgbClr>
            </a:outerShdw>
          </a:effectLst>
        </p:spPr>
      </p:sp>
      <p:pic>
        <p:nvPicPr>
          <p:cNvPr id="9" name="Image 0" descr="C:\Users\jeloooaceeew\Desktop\trikekoto-web\trikekoto_app\docs\manual\fig-3-booking.png">    </p:cNvPr>
          <p:cNvPicPr>
            <a:picLocks noChangeAspect="1"/>
          </p:cNvPicPr>
          <p:nvPr/>
        </p:nvPicPr>
        <p:blipFill>
          <a:blip r:embed="rId1"/>
          <a:stretch>
            <a:fillRect/>
          </a:stretch>
        </p:blipFill>
        <p:spPr>
          <a:xfrm>
            <a:off x="8732520" y="548640"/>
            <a:ext cx="2661944" cy="5760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indent="0" marL="0">
              <a:buNone/>
            </a:pPr>
            <a:r>
              <a:rPr lang="en-US" sz="1200" b="1" spc="200" kern="0" dirty="0">
                <a:solidFill>
                  <a:srgbClr val="B7780A"/>
                </a:solidFill>
                <a:latin typeface="Calibri" pitchFamily="34" charset="0"/>
                <a:ea typeface="Calibri" pitchFamily="34" charset="-122"/>
                <a:cs typeface="Calibri" pitchFamily="34" charset="-120"/>
              </a:rPr>
              <a:t>BACKGROUND</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1B2433"/>
                </a:solidFill>
                <a:latin typeface="Calibri" pitchFamily="34" charset="0"/>
                <a:ea typeface="Calibri" pitchFamily="34" charset="-122"/>
                <a:cs typeface="Calibri" pitchFamily="34" charset="-120"/>
              </a:rPr>
              <a:t>The problem</a:t>
            </a:r>
            <a:endParaRPr lang="en-US" sz="3400" dirty="0"/>
          </a:p>
        </p:txBody>
      </p:sp>
      <p:sp>
        <p:nvSpPr>
          <p:cNvPr id="4" name="Shape 2"/>
          <p:cNvSpPr/>
          <p:nvPr/>
        </p:nvSpPr>
        <p:spPr>
          <a:xfrm>
            <a:off x="548640" y="1691640"/>
            <a:ext cx="3566160" cy="3246120"/>
          </a:xfrm>
          <a:prstGeom prst="roundRect">
            <a:avLst>
              <a:gd name="adj" fmla="val 3380"/>
            </a:avLst>
          </a:prstGeom>
          <a:solidFill>
            <a:srgbClr val="F2F4F8"/>
          </a:solidFill>
          <a:ln w="12700">
            <a:solidFill>
              <a:srgbClr val="F2F4F8"/>
            </a:solidFill>
            <a:prstDash val="solid"/>
          </a:ln>
        </p:spPr>
      </p:sp>
      <p:sp>
        <p:nvSpPr>
          <p:cNvPr id="5" name="Shape 3"/>
          <p:cNvSpPr/>
          <p:nvPr/>
        </p:nvSpPr>
        <p:spPr>
          <a:xfrm>
            <a:off x="868680" y="2011680"/>
            <a:ext cx="548640" cy="548640"/>
          </a:xfrm>
          <a:prstGeom prst="ellipse">
            <a:avLst/>
          </a:prstGeom>
          <a:solidFill>
            <a:srgbClr val="F5A524"/>
          </a:solidFill>
          <a:ln w="12700">
            <a:solidFill>
              <a:srgbClr val="F5A524"/>
            </a:solidFill>
            <a:prstDash val="solid"/>
          </a:ln>
        </p:spPr>
      </p:sp>
      <p:sp>
        <p:nvSpPr>
          <p:cNvPr id="6" name="Text 4"/>
          <p:cNvSpPr txBox="1"/>
          <p:nvPr/>
        </p:nvSpPr>
        <p:spPr>
          <a:xfrm>
            <a:off x="868680" y="2011680"/>
            <a:ext cx="548640" cy="548640"/>
          </a:xfrm>
          <a:prstGeom prst="rect">
            <a:avLst/>
          </a:prstGeom>
          <a:noFill/>
          <a:ln/>
        </p:spPr>
        <p:txBody>
          <a:bodyPr wrap="square" lIns="0" tIns="0" rIns="0" bIns="0" rtlCol="0" anchor="ctr"/>
          <a:lstStyle/>
          <a:p>
            <a:pPr algn="ctr" indent="0" marL="0">
              <a:buNone/>
            </a:pPr>
            <a:r>
              <a:rPr lang="en-US" sz="1560" b="1" dirty="0">
                <a:solidFill>
                  <a:srgbClr val="14213D"/>
                </a:solidFill>
                <a:latin typeface="Calibri" pitchFamily="34" charset="0"/>
                <a:ea typeface="Calibri" pitchFamily="34" charset="-122"/>
                <a:cs typeface="Calibri" pitchFamily="34" charset="-120"/>
              </a:rPr>
              <a:t>1</a:t>
            </a:r>
            <a:endParaRPr lang="en-US" sz="1560" dirty="0"/>
          </a:p>
        </p:txBody>
      </p:sp>
      <p:sp>
        <p:nvSpPr>
          <p:cNvPr id="7" name="Text 5"/>
          <p:cNvSpPr txBox="1"/>
          <p:nvPr/>
        </p:nvSpPr>
        <p:spPr>
          <a:xfrm>
            <a:off x="868680" y="2788920"/>
            <a:ext cx="2926080" cy="457200"/>
          </a:xfrm>
          <a:prstGeom prst="rect">
            <a:avLst/>
          </a:prstGeom>
          <a:noFill/>
          <a:ln/>
        </p:spPr>
        <p:txBody>
          <a:bodyPr wrap="square" lIns="0" tIns="0" rIns="0" bIns="0" rtlCol="0" anchor="ctr"/>
          <a:lstStyle/>
          <a:p>
            <a:pPr indent="0" marL="0">
              <a:buNone/>
            </a:pPr>
            <a:r>
              <a:rPr lang="en-US" sz="2200" b="1" dirty="0">
                <a:solidFill>
                  <a:srgbClr val="1B2433"/>
                </a:solidFill>
                <a:latin typeface="Calibri" pitchFamily="34" charset="0"/>
                <a:ea typeface="Calibri" pitchFamily="34" charset="-122"/>
                <a:cs typeface="Calibri" pitchFamily="34" charset="-120"/>
              </a:rPr>
              <a:t>Commuters wait</a:t>
            </a:r>
            <a:endParaRPr lang="en-US" sz="2200" dirty="0"/>
          </a:p>
        </p:txBody>
      </p:sp>
      <p:sp>
        <p:nvSpPr>
          <p:cNvPr id="8" name="Text 6"/>
          <p:cNvSpPr txBox="1"/>
          <p:nvPr/>
        </p:nvSpPr>
        <p:spPr>
          <a:xfrm>
            <a:off x="868680" y="3291840"/>
            <a:ext cx="2926080" cy="1508760"/>
          </a:xfrm>
          <a:prstGeom prst="rect">
            <a:avLst/>
          </a:prstGeom>
          <a:noFill/>
          <a:ln/>
        </p:spPr>
        <p:txBody>
          <a:bodyPr wrap="square" lIns="0" tIns="0" rIns="0" bIns="0" rtlCol="0" anchor="t"/>
          <a:lstStyle/>
          <a:p>
            <a:pPr indent="0" marL="0">
              <a:lnSpc>
                <a:spcPct val="110000"/>
              </a:lnSpc>
              <a:buNone/>
            </a:pPr>
            <a:r>
              <a:rPr lang="en-US" sz="1600" dirty="0">
                <a:solidFill>
                  <a:srgbClr val="5B6472"/>
                </a:solidFill>
                <a:latin typeface="Calibri" pitchFamily="34" charset="0"/>
                <a:ea typeface="Calibri" pitchFamily="34" charset="-122"/>
                <a:cs typeface="Calibri" pitchFamily="34" charset="-120"/>
              </a:rPr>
              <a:t>Passengers walk to a terminal or wait by the road without knowing whether a tricycle is coming — worst at night and in the rain.</a:t>
            </a:r>
            <a:endParaRPr lang="en-US" sz="1600" dirty="0"/>
          </a:p>
        </p:txBody>
      </p:sp>
      <p:sp>
        <p:nvSpPr>
          <p:cNvPr id="9" name="Shape 7"/>
          <p:cNvSpPr/>
          <p:nvPr/>
        </p:nvSpPr>
        <p:spPr>
          <a:xfrm>
            <a:off x="4334256" y="1691640"/>
            <a:ext cx="3566160" cy="3246120"/>
          </a:xfrm>
          <a:prstGeom prst="roundRect">
            <a:avLst>
              <a:gd name="adj" fmla="val 3380"/>
            </a:avLst>
          </a:prstGeom>
          <a:solidFill>
            <a:srgbClr val="F2F4F8"/>
          </a:solidFill>
          <a:ln w="12700">
            <a:solidFill>
              <a:srgbClr val="F2F4F8"/>
            </a:solidFill>
            <a:prstDash val="solid"/>
          </a:ln>
        </p:spPr>
      </p:sp>
      <p:sp>
        <p:nvSpPr>
          <p:cNvPr id="10" name="Shape 8"/>
          <p:cNvSpPr/>
          <p:nvPr/>
        </p:nvSpPr>
        <p:spPr>
          <a:xfrm>
            <a:off x="4654296" y="2011680"/>
            <a:ext cx="548640" cy="548640"/>
          </a:xfrm>
          <a:prstGeom prst="ellipse">
            <a:avLst/>
          </a:prstGeom>
          <a:solidFill>
            <a:srgbClr val="F5A524"/>
          </a:solidFill>
          <a:ln w="12700">
            <a:solidFill>
              <a:srgbClr val="F5A524"/>
            </a:solidFill>
            <a:prstDash val="solid"/>
          </a:ln>
        </p:spPr>
      </p:sp>
      <p:sp>
        <p:nvSpPr>
          <p:cNvPr id="11" name="Text 9"/>
          <p:cNvSpPr txBox="1"/>
          <p:nvPr/>
        </p:nvSpPr>
        <p:spPr>
          <a:xfrm>
            <a:off x="4654296" y="2011680"/>
            <a:ext cx="548640" cy="548640"/>
          </a:xfrm>
          <a:prstGeom prst="rect">
            <a:avLst/>
          </a:prstGeom>
          <a:noFill/>
          <a:ln/>
        </p:spPr>
        <p:txBody>
          <a:bodyPr wrap="square" lIns="0" tIns="0" rIns="0" bIns="0" rtlCol="0" anchor="ctr"/>
          <a:lstStyle/>
          <a:p>
            <a:pPr algn="ctr" indent="0" marL="0">
              <a:buNone/>
            </a:pPr>
            <a:r>
              <a:rPr lang="en-US" sz="1560" b="1" dirty="0">
                <a:solidFill>
                  <a:srgbClr val="14213D"/>
                </a:solidFill>
                <a:latin typeface="Calibri" pitchFamily="34" charset="0"/>
                <a:ea typeface="Calibri" pitchFamily="34" charset="-122"/>
                <a:cs typeface="Calibri" pitchFamily="34" charset="-120"/>
              </a:rPr>
              <a:t>2</a:t>
            </a:r>
            <a:endParaRPr lang="en-US" sz="1560" dirty="0"/>
          </a:p>
        </p:txBody>
      </p:sp>
      <p:sp>
        <p:nvSpPr>
          <p:cNvPr id="12" name="Text 10"/>
          <p:cNvSpPr txBox="1"/>
          <p:nvPr/>
        </p:nvSpPr>
        <p:spPr>
          <a:xfrm>
            <a:off x="4654296" y="2788920"/>
            <a:ext cx="2926080" cy="457200"/>
          </a:xfrm>
          <a:prstGeom prst="rect">
            <a:avLst/>
          </a:prstGeom>
          <a:noFill/>
          <a:ln/>
        </p:spPr>
        <p:txBody>
          <a:bodyPr wrap="square" lIns="0" tIns="0" rIns="0" bIns="0" rtlCol="0" anchor="ctr"/>
          <a:lstStyle/>
          <a:p>
            <a:pPr indent="0" marL="0">
              <a:buNone/>
            </a:pPr>
            <a:r>
              <a:rPr lang="en-US" sz="2200" b="1" dirty="0">
                <a:solidFill>
                  <a:srgbClr val="1B2433"/>
                </a:solidFill>
                <a:latin typeface="Calibri" pitchFamily="34" charset="0"/>
                <a:ea typeface="Calibri" pitchFamily="34" charset="-122"/>
                <a:cs typeface="Calibri" pitchFamily="34" charset="-120"/>
              </a:rPr>
              <a:t>Drivers roam empty</a:t>
            </a:r>
            <a:endParaRPr lang="en-US" sz="2200" dirty="0"/>
          </a:p>
        </p:txBody>
      </p:sp>
      <p:sp>
        <p:nvSpPr>
          <p:cNvPr id="13" name="Text 11"/>
          <p:cNvSpPr txBox="1"/>
          <p:nvPr/>
        </p:nvSpPr>
        <p:spPr>
          <a:xfrm>
            <a:off x="4654296" y="3291840"/>
            <a:ext cx="2926080" cy="1508760"/>
          </a:xfrm>
          <a:prstGeom prst="rect">
            <a:avLst/>
          </a:prstGeom>
          <a:noFill/>
          <a:ln/>
        </p:spPr>
        <p:txBody>
          <a:bodyPr wrap="square" lIns="0" tIns="0" rIns="0" bIns="0" rtlCol="0" anchor="t"/>
          <a:lstStyle/>
          <a:p>
            <a:pPr indent="0" marL="0">
              <a:lnSpc>
                <a:spcPct val="110000"/>
              </a:lnSpc>
              <a:buNone/>
            </a:pPr>
            <a:r>
              <a:rPr lang="en-US" sz="1600" dirty="0">
                <a:solidFill>
                  <a:srgbClr val="5B6472"/>
                </a:solidFill>
                <a:latin typeface="Calibri" pitchFamily="34" charset="0"/>
                <a:ea typeface="Calibri" pitchFamily="34" charset="-122"/>
                <a:cs typeface="Calibri" pitchFamily="34" charset="-120"/>
              </a:rPr>
              <a:t>Drivers circle for passengers or queue at the terminal, spending fuel and hours without a fare.</a:t>
            </a:r>
            <a:endParaRPr lang="en-US" sz="1600" dirty="0"/>
          </a:p>
        </p:txBody>
      </p:sp>
      <p:sp>
        <p:nvSpPr>
          <p:cNvPr id="14" name="Shape 12"/>
          <p:cNvSpPr/>
          <p:nvPr/>
        </p:nvSpPr>
        <p:spPr>
          <a:xfrm>
            <a:off x="8119872" y="1691640"/>
            <a:ext cx="3566160" cy="3246120"/>
          </a:xfrm>
          <a:prstGeom prst="roundRect">
            <a:avLst>
              <a:gd name="adj" fmla="val 3380"/>
            </a:avLst>
          </a:prstGeom>
          <a:solidFill>
            <a:srgbClr val="F2F4F8"/>
          </a:solidFill>
          <a:ln w="12700">
            <a:solidFill>
              <a:srgbClr val="F2F4F8"/>
            </a:solidFill>
            <a:prstDash val="solid"/>
          </a:ln>
        </p:spPr>
      </p:sp>
      <p:sp>
        <p:nvSpPr>
          <p:cNvPr id="15" name="Shape 13"/>
          <p:cNvSpPr/>
          <p:nvPr/>
        </p:nvSpPr>
        <p:spPr>
          <a:xfrm>
            <a:off x="8439912" y="2011680"/>
            <a:ext cx="548640" cy="548640"/>
          </a:xfrm>
          <a:prstGeom prst="ellipse">
            <a:avLst/>
          </a:prstGeom>
          <a:solidFill>
            <a:srgbClr val="F5A524"/>
          </a:solidFill>
          <a:ln w="12700">
            <a:solidFill>
              <a:srgbClr val="F5A524"/>
            </a:solidFill>
            <a:prstDash val="solid"/>
          </a:ln>
        </p:spPr>
      </p:sp>
      <p:sp>
        <p:nvSpPr>
          <p:cNvPr id="16" name="Text 14"/>
          <p:cNvSpPr txBox="1"/>
          <p:nvPr/>
        </p:nvSpPr>
        <p:spPr>
          <a:xfrm>
            <a:off x="8439912" y="2011680"/>
            <a:ext cx="548640" cy="548640"/>
          </a:xfrm>
          <a:prstGeom prst="rect">
            <a:avLst/>
          </a:prstGeom>
          <a:noFill/>
          <a:ln/>
        </p:spPr>
        <p:txBody>
          <a:bodyPr wrap="square" lIns="0" tIns="0" rIns="0" bIns="0" rtlCol="0" anchor="ctr"/>
          <a:lstStyle/>
          <a:p>
            <a:pPr algn="ctr" indent="0" marL="0">
              <a:buNone/>
            </a:pPr>
            <a:r>
              <a:rPr lang="en-US" sz="1560" b="1" dirty="0">
                <a:solidFill>
                  <a:srgbClr val="14213D"/>
                </a:solidFill>
                <a:latin typeface="Calibri" pitchFamily="34" charset="0"/>
                <a:ea typeface="Calibri" pitchFamily="34" charset="-122"/>
                <a:cs typeface="Calibri" pitchFamily="34" charset="-120"/>
              </a:rPr>
              <a:t>3</a:t>
            </a:r>
            <a:endParaRPr lang="en-US" sz="1560" dirty="0"/>
          </a:p>
        </p:txBody>
      </p:sp>
      <p:sp>
        <p:nvSpPr>
          <p:cNvPr id="17" name="Text 15"/>
          <p:cNvSpPr txBox="1"/>
          <p:nvPr/>
        </p:nvSpPr>
        <p:spPr>
          <a:xfrm>
            <a:off x="8439912" y="2788920"/>
            <a:ext cx="2926080" cy="457200"/>
          </a:xfrm>
          <a:prstGeom prst="rect">
            <a:avLst/>
          </a:prstGeom>
          <a:noFill/>
          <a:ln/>
        </p:spPr>
        <p:txBody>
          <a:bodyPr wrap="square" lIns="0" tIns="0" rIns="0" bIns="0" rtlCol="0" anchor="ctr"/>
          <a:lstStyle/>
          <a:p>
            <a:pPr indent="0" marL="0">
              <a:buNone/>
            </a:pPr>
            <a:r>
              <a:rPr lang="en-US" sz="2200" b="1" dirty="0">
                <a:solidFill>
                  <a:srgbClr val="1B2433"/>
                </a:solidFill>
                <a:latin typeface="Calibri" pitchFamily="34" charset="0"/>
                <a:ea typeface="Calibri" pitchFamily="34" charset="-122"/>
                <a:cs typeface="Calibri" pitchFamily="34" charset="-120"/>
              </a:rPr>
              <a:t>No trust, no record</a:t>
            </a:r>
            <a:endParaRPr lang="en-US" sz="2200" dirty="0"/>
          </a:p>
        </p:txBody>
      </p:sp>
      <p:sp>
        <p:nvSpPr>
          <p:cNvPr id="18" name="Text 16"/>
          <p:cNvSpPr txBox="1"/>
          <p:nvPr/>
        </p:nvSpPr>
        <p:spPr>
          <a:xfrm>
            <a:off x="8439912" y="3291840"/>
            <a:ext cx="2926080" cy="1508760"/>
          </a:xfrm>
          <a:prstGeom prst="rect">
            <a:avLst/>
          </a:prstGeom>
          <a:noFill/>
          <a:ln/>
        </p:spPr>
        <p:txBody>
          <a:bodyPr wrap="square" lIns="0" tIns="0" rIns="0" bIns="0" rtlCol="0" anchor="t"/>
          <a:lstStyle/>
          <a:p>
            <a:pPr indent="0" marL="0">
              <a:lnSpc>
                <a:spcPct val="110000"/>
              </a:lnSpc>
              <a:buNone/>
            </a:pPr>
            <a:r>
              <a:rPr lang="en-US" sz="1600" dirty="0">
                <a:solidFill>
                  <a:srgbClr val="5B6472"/>
                </a:solidFill>
                <a:latin typeface="Calibri" pitchFamily="34" charset="0"/>
                <a:ea typeface="Calibri" pitchFamily="34" charset="-122"/>
                <a:cs typeface="Calibri" pitchFamily="34" charset="-120"/>
              </a:rPr>
              <a:t>Bookings by text or call leave no record of who rode with whom, and nothing a TODA chapter can check.</a:t>
            </a:r>
            <a:endParaRPr lang="en-US" sz="1600" dirty="0"/>
          </a:p>
        </p:txBody>
      </p:sp>
      <p:sp>
        <p:nvSpPr>
          <p:cNvPr id="19" name="Shape 17"/>
          <p:cNvSpPr/>
          <p:nvPr/>
        </p:nvSpPr>
        <p:spPr>
          <a:xfrm>
            <a:off x="548640" y="5257800"/>
            <a:ext cx="11064240" cy="1005840"/>
          </a:xfrm>
          <a:prstGeom prst="roundRect">
            <a:avLst>
              <a:gd name="adj" fmla="val 10909"/>
            </a:avLst>
          </a:prstGeom>
          <a:solidFill>
            <a:srgbClr val="14213D"/>
          </a:solidFill>
          <a:ln w="12700">
            <a:solidFill>
              <a:srgbClr val="14213D"/>
            </a:solidFill>
            <a:prstDash val="solid"/>
          </a:ln>
        </p:spPr>
      </p:sp>
      <p:sp>
        <p:nvSpPr>
          <p:cNvPr id="20" name="Text 18"/>
          <p:cNvSpPr txBox="1"/>
          <p:nvPr/>
        </p:nvSpPr>
        <p:spPr>
          <a:xfrm>
            <a:off x="868680" y="5257800"/>
            <a:ext cx="10424160" cy="100584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The gap: general ride-hailing apps either leave TODA tricycles out, or go around the chapter that already decides who drives and what they charge.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indent="0" marL="0">
              <a:buNone/>
            </a:pPr>
            <a:r>
              <a:rPr lang="en-US" sz="1200" b="1" spc="200" kern="0" dirty="0">
                <a:solidFill>
                  <a:srgbClr val="B7780A"/>
                </a:solidFill>
                <a:latin typeface="Calibri" pitchFamily="34" charset="0"/>
                <a:ea typeface="Calibri" pitchFamily="34" charset="-122"/>
                <a:cs typeface="Calibri" pitchFamily="34" charset="-120"/>
              </a:rPr>
              <a:t>PROPOSED SOLUTION</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1B2433"/>
                </a:solidFill>
                <a:latin typeface="Calibri" pitchFamily="34" charset="0"/>
                <a:ea typeface="Calibri" pitchFamily="34" charset="-122"/>
                <a:cs typeface="Calibri" pitchFamily="34" charset="-120"/>
              </a:rPr>
              <a:t>Built with the TODA, not around it</a:t>
            </a:r>
            <a:endParaRPr lang="en-US" sz="3400" dirty="0"/>
          </a:p>
        </p:txBody>
      </p:sp>
      <p:sp>
        <p:nvSpPr>
          <p:cNvPr id="4" name="Text 2"/>
          <p:cNvSpPr txBox="1"/>
          <p:nvPr/>
        </p:nvSpPr>
        <p:spPr>
          <a:xfrm>
            <a:off x="2788920" y="1600200"/>
            <a:ext cx="4297680" cy="457200"/>
          </a:xfrm>
          <a:prstGeom prst="rect">
            <a:avLst/>
          </a:prstGeom>
          <a:noFill/>
          <a:ln/>
        </p:spPr>
        <p:txBody>
          <a:bodyPr wrap="square" lIns="0" tIns="0" rIns="0" bIns="0" rtlCol="0" anchor="ctr"/>
          <a:lstStyle/>
          <a:p>
            <a:pPr algn="ctr" indent="0" marL="0">
              <a:buNone/>
            </a:pPr>
            <a:r>
              <a:rPr lang="en-US" sz="1800" b="1" dirty="0">
                <a:solidFill>
                  <a:srgbClr val="5B6472"/>
                </a:solidFill>
                <a:latin typeface="Calibri" pitchFamily="34" charset="0"/>
                <a:ea typeface="Calibri" pitchFamily="34" charset="-122"/>
                <a:cs typeface="Calibri" pitchFamily="34" charset="-120"/>
              </a:rPr>
              <a:t>General ride-hailing apps</a:t>
            </a:r>
            <a:endParaRPr lang="en-US" sz="1800" dirty="0"/>
          </a:p>
        </p:txBody>
      </p:sp>
      <p:sp>
        <p:nvSpPr>
          <p:cNvPr id="5" name="Text 3"/>
          <p:cNvSpPr txBox="1"/>
          <p:nvPr/>
        </p:nvSpPr>
        <p:spPr>
          <a:xfrm>
            <a:off x="7269480" y="1600200"/>
            <a:ext cx="4343400" cy="457200"/>
          </a:xfrm>
          <a:prstGeom prst="rect">
            <a:avLst/>
          </a:prstGeom>
          <a:noFill/>
          <a:ln/>
        </p:spPr>
        <p:txBody>
          <a:bodyPr wrap="square" lIns="0" tIns="0" rIns="0" bIns="0" rtlCol="0" anchor="ctr"/>
          <a:lstStyle/>
          <a:p>
            <a:pPr algn="ctr" indent="0" marL="0">
              <a:buNone/>
            </a:pPr>
            <a:r>
              <a:rPr lang="en-US" sz="1800" b="1" dirty="0">
                <a:solidFill>
                  <a:srgbClr val="14213D"/>
                </a:solidFill>
                <a:latin typeface="Calibri" pitchFamily="34" charset="0"/>
                <a:ea typeface="Calibri" pitchFamily="34" charset="-122"/>
                <a:cs typeface="Calibri" pitchFamily="34" charset="-120"/>
              </a:rPr>
              <a:t>TrikeKoTo</a:t>
            </a:r>
            <a:endParaRPr lang="en-US" sz="1800" dirty="0"/>
          </a:p>
        </p:txBody>
      </p:sp>
      <p:sp>
        <p:nvSpPr>
          <p:cNvPr id="6" name="Text 4"/>
          <p:cNvSpPr txBox="1"/>
          <p:nvPr/>
        </p:nvSpPr>
        <p:spPr>
          <a:xfrm>
            <a:off x="548640" y="2194560"/>
            <a:ext cx="2103120" cy="868680"/>
          </a:xfrm>
          <a:prstGeom prst="rect">
            <a:avLst/>
          </a:prstGeom>
          <a:noFill/>
          <a:ln/>
        </p:spPr>
        <p:txBody>
          <a:bodyPr wrap="square" lIns="0" tIns="0" rIns="0" bIns="0" rtlCol="0" anchor="ctr"/>
          <a:lstStyle/>
          <a:p>
            <a:pPr indent="0" marL="0">
              <a:buNone/>
            </a:pPr>
            <a:r>
              <a:rPr lang="en-US" sz="1800" b="1" dirty="0">
                <a:solidFill>
                  <a:srgbClr val="1B2433"/>
                </a:solidFill>
                <a:latin typeface="Calibri" pitchFamily="34" charset="0"/>
                <a:ea typeface="Calibri" pitchFamily="34" charset="-122"/>
                <a:cs typeface="Calibri" pitchFamily="34" charset="-120"/>
              </a:rPr>
              <a:t>Who drives</a:t>
            </a:r>
            <a:endParaRPr lang="en-US" sz="1800" dirty="0"/>
          </a:p>
        </p:txBody>
      </p:sp>
      <p:sp>
        <p:nvSpPr>
          <p:cNvPr id="7" name="Shape 5"/>
          <p:cNvSpPr/>
          <p:nvPr/>
        </p:nvSpPr>
        <p:spPr>
          <a:xfrm>
            <a:off x="2788920" y="2194560"/>
            <a:ext cx="4297680" cy="868680"/>
          </a:xfrm>
          <a:prstGeom prst="roundRect">
            <a:avLst>
              <a:gd name="adj" fmla="val 12632"/>
            </a:avLst>
          </a:prstGeom>
          <a:solidFill>
            <a:srgbClr val="F2F4F8"/>
          </a:solidFill>
          <a:ln w="12700">
            <a:solidFill>
              <a:srgbClr val="F2F4F8"/>
            </a:solidFill>
            <a:prstDash val="solid"/>
          </a:ln>
        </p:spPr>
      </p:sp>
      <p:sp>
        <p:nvSpPr>
          <p:cNvPr id="8" name="Text 6"/>
          <p:cNvSpPr txBox="1"/>
          <p:nvPr/>
        </p:nvSpPr>
        <p:spPr>
          <a:xfrm>
            <a:off x="3063240" y="2194560"/>
            <a:ext cx="3749040" cy="868680"/>
          </a:xfrm>
          <a:prstGeom prst="rect">
            <a:avLst/>
          </a:prstGeom>
          <a:noFill/>
          <a:ln/>
        </p:spPr>
        <p:txBody>
          <a:bodyPr wrap="square" lIns="0" tIns="0" rIns="0" bIns="0" rtlCol="0" anchor="ctr"/>
          <a:lstStyle/>
          <a:p>
            <a:pPr indent="0" marL="0">
              <a:buNone/>
            </a:pPr>
            <a:r>
              <a:rPr lang="en-US" sz="1600" dirty="0">
                <a:solidFill>
                  <a:srgbClr val="5B6472"/>
                </a:solidFill>
                <a:latin typeface="Calibri" pitchFamily="34" charset="0"/>
                <a:ea typeface="Calibri" pitchFamily="34" charset="-122"/>
                <a:cs typeface="Calibri" pitchFamily="34" charset="-120"/>
              </a:rPr>
              <a:t>Anyone who signs up</a:t>
            </a:r>
            <a:endParaRPr lang="en-US" sz="1600" dirty="0"/>
          </a:p>
        </p:txBody>
      </p:sp>
      <p:sp>
        <p:nvSpPr>
          <p:cNvPr id="9" name="Shape 7"/>
          <p:cNvSpPr/>
          <p:nvPr/>
        </p:nvSpPr>
        <p:spPr>
          <a:xfrm>
            <a:off x="7269480" y="2194560"/>
            <a:ext cx="4343400" cy="868680"/>
          </a:xfrm>
          <a:prstGeom prst="roundRect">
            <a:avLst>
              <a:gd name="adj" fmla="val 12632"/>
            </a:avLst>
          </a:prstGeom>
          <a:solidFill>
            <a:srgbClr val="14213D"/>
          </a:solidFill>
          <a:ln w="12700">
            <a:solidFill>
              <a:srgbClr val="14213D"/>
            </a:solidFill>
            <a:prstDash val="solid"/>
          </a:ln>
        </p:spPr>
      </p:sp>
      <p:sp>
        <p:nvSpPr>
          <p:cNvPr id="10" name="Text 8"/>
          <p:cNvSpPr txBox="1"/>
          <p:nvPr/>
        </p:nvSpPr>
        <p:spPr>
          <a:xfrm>
            <a:off x="7543800" y="2194560"/>
            <a:ext cx="3794760" cy="8686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TODA members approved by their chapter</a:t>
            </a:r>
            <a:endParaRPr lang="en-US" sz="1600" dirty="0"/>
          </a:p>
        </p:txBody>
      </p:sp>
      <p:sp>
        <p:nvSpPr>
          <p:cNvPr id="11" name="Text 9"/>
          <p:cNvSpPr txBox="1"/>
          <p:nvPr/>
        </p:nvSpPr>
        <p:spPr>
          <a:xfrm>
            <a:off x="548640" y="3218688"/>
            <a:ext cx="2103120" cy="868680"/>
          </a:xfrm>
          <a:prstGeom prst="rect">
            <a:avLst/>
          </a:prstGeom>
          <a:noFill/>
          <a:ln/>
        </p:spPr>
        <p:txBody>
          <a:bodyPr wrap="square" lIns="0" tIns="0" rIns="0" bIns="0" rtlCol="0" anchor="ctr"/>
          <a:lstStyle/>
          <a:p>
            <a:pPr indent="0" marL="0">
              <a:buNone/>
            </a:pPr>
            <a:r>
              <a:rPr lang="en-US" sz="1800" b="1" dirty="0">
                <a:solidFill>
                  <a:srgbClr val="1B2433"/>
                </a:solidFill>
                <a:latin typeface="Calibri" pitchFamily="34" charset="0"/>
                <a:ea typeface="Calibri" pitchFamily="34" charset="-122"/>
                <a:cs typeface="Calibri" pitchFamily="34" charset="-120"/>
              </a:rPr>
              <a:t>Fare</a:t>
            </a:r>
            <a:endParaRPr lang="en-US" sz="1800" dirty="0"/>
          </a:p>
        </p:txBody>
      </p:sp>
      <p:sp>
        <p:nvSpPr>
          <p:cNvPr id="12" name="Shape 10"/>
          <p:cNvSpPr/>
          <p:nvPr/>
        </p:nvSpPr>
        <p:spPr>
          <a:xfrm>
            <a:off x="2788920" y="3218688"/>
            <a:ext cx="4297680" cy="868680"/>
          </a:xfrm>
          <a:prstGeom prst="roundRect">
            <a:avLst>
              <a:gd name="adj" fmla="val 12632"/>
            </a:avLst>
          </a:prstGeom>
          <a:solidFill>
            <a:srgbClr val="F2F4F8"/>
          </a:solidFill>
          <a:ln w="12700">
            <a:solidFill>
              <a:srgbClr val="F2F4F8"/>
            </a:solidFill>
            <a:prstDash val="solid"/>
          </a:ln>
        </p:spPr>
      </p:sp>
      <p:sp>
        <p:nvSpPr>
          <p:cNvPr id="13" name="Text 11"/>
          <p:cNvSpPr txBox="1"/>
          <p:nvPr/>
        </p:nvSpPr>
        <p:spPr>
          <a:xfrm>
            <a:off x="3063240" y="3218688"/>
            <a:ext cx="3749040" cy="868680"/>
          </a:xfrm>
          <a:prstGeom prst="rect">
            <a:avLst/>
          </a:prstGeom>
          <a:noFill/>
          <a:ln/>
        </p:spPr>
        <p:txBody>
          <a:bodyPr wrap="square" lIns="0" tIns="0" rIns="0" bIns="0" rtlCol="0" anchor="ctr"/>
          <a:lstStyle/>
          <a:p>
            <a:pPr indent="0" marL="0">
              <a:buNone/>
            </a:pPr>
            <a:r>
              <a:rPr lang="en-US" sz="1600" dirty="0">
                <a:solidFill>
                  <a:srgbClr val="5B6472"/>
                </a:solidFill>
                <a:latin typeface="Calibri" pitchFamily="34" charset="0"/>
                <a:ea typeface="Calibri" pitchFamily="34" charset="-122"/>
                <a:cs typeface="Calibri" pitchFamily="34" charset="-120"/>
              </a:rPr>
              <a:t>Set by the app</a:t>
            </a:r>
            <a:endParaRPr lang="en-US" sz="1600" dirty="0"/>
          </a:p>
        </p:txBody>
      </p:sp>
      <p:sp>
        <p:nvSpPr>
          <p:cNvPr id="14" name="Shape 12"/>
          <p:cNvSpPr/>
          <p:nvPr/>
        </p:nvSpPr>
        <p:spPr>
          <a:xfrm>
            <a:off x="7269480" y="3218688"/>
            <a:ext cx="4343400" cy="868680"/>
          </a:xfrm>
          <a:prstGeom prst="roundRect">
            <a:avLst>
              <a:gd name="adj" fmla="val 12632"/>
            </a:avLst>
          </a:prstGeom>
          <a:solidFill>
            <a:srgbClr val="14213D"/>
          </a:solidFill>
          <a:ln w="12700">
            <a:solidFill>
              <a:srgbClr val="14213D"/>
            </a:solidFill>
            <a:prstDash val="solid"/>
          </a:ln>
        </p:spPr>
      </p:sp>
      <p:sp>
        <p:nvSpPr>
          <p:cNvPr id="15" name="Text 13"/>
          <p:cNvSpPr txBox="1"/>
          <p:nvPr/>
        </p:nvSpPr>
        <p:spPr>
          <a:xfrm>
            <a:off x="7543800" y="3218688"/>
            <a:ext cx="3794760" cy="8686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The posted TODA tariff, paid in cash</a:t>
            </a:r>
            <a:endParaRPr lang="en-US" sz="1600" dirty="0"/>
          </a:p>
        </p:txBody>
      </p:sp>
      <p:sp>
        <p:nvSpPr>
          <p:cNvPr id="16" name="Text 14"/>
          <p:cNvSpPr txBox="1"/>
          <p:nvPr/>
        </p:nvSpPr>
        <p:spPr>
          <a:xfrm>
            <a:off x="548640" y="4242816"/>
            <a:ext cx="2103120" cy="868680"/>
          </a:xfrm>
          <a:prstGeom prst="rect">
            <a:avLst/>
          </a:prstGeom>
          <a:noFill/>
          <a:ln/>
        </p:spPr>
        <p:txBody>
          <a:bodyPr wrap="square" lIns="0" tIns="0" rIns="0" bIns="0" rtlCol="0" anchor="ctr"/>
          <a:lstStyle/>
          <a:p>
            <a:pPr indent="0" marL="0">
              <a:buNone/>
            </a:pPr>
            <a:r>
              <a:rPr lang="en-US" sz="1800" b="1" dirty="0">
                <a:solidFill>
                  <a:srgbClr val="1B2433"/>
                </a:solidFill>
                <a:latin typeface="Calibri" pitchFamily="34" charset="0"/>
                <a:ea typeface="Calibri" pitchFamily="34" charset="-122"/>
                <a:cs typeface="Calibri" pitchFamily="34" charset="-120"/>
              </a:rPr>
              <a:t>Chapter control</a:t>
            </a:r>
            <a:endParaRPr lang="en-US" sz="1800" dirty="0"/>
          </a:p>
        </p:txBody>
      </p:sp>
      <p:sp>
        <p:nvSpPr>
          <p:cNvPr id="17" name="Shape 15"/>
          <p:cNvSpPr/>
          <p:nvPr/>
        </p:nvSpPr>
        <p:spPr>
          <a:xfrm>
            <a:off x="2788920" y="4242816"/>
            <a:ext cx="4297680" cy="868680"/>
          </a:xfrm>
          <a:prstGeom prst="roundRect">
            <a:avLst>
              <a:gd name="adj" fmla="val 12632"/>
            </a:avLst>
          </a:prstGeom>
          <a:solidFill>
            <a:srgbClr val="F2F4F8"/>
          </a:solidFill>
          <a:ln w="12700">
            <a:solidFill>
              <a:srgbClr val="F2F4F8"/>
            </a:solidFill>
            <a:prstDash val="solid"/>
          </a:ln>
        </p:spPr>
      </p:sp>
      <p:sp>
        <p:nvSpPr>
          <p:cNvPr id="18" name="Text 16"/>
          <p:cNvSpPr txBox="1"/>
          <p:nvPr/>
        </p:nvSpPr>
        <p:spPr>
          <a:xfrm>
            <a:off x="3063240" y="4242816"/>
            <a:ext cx="3749040" cy="868680"/>
          </a:xfrm>
          <a:prstGeom prst="rect">
            <a:avLst/>
          </a:prstGeom>
          <a:noFill/>
          <a:ln/>
        </p:spPr>
        <p:txBody>
          <a:bodyPr wrap="square" lIns="0" tIns="0" rIns="0" bIns="0" rtlCol="0" anchor="ctr"/>
          <a:lstStyle/>
          <a:p>
            <a:pPr indent="0" marL="0">
              <a:buNone/>
            </a:pPr>
            <a:r>
              <a:rPr lang="en-US" sz="1600" dirty="0">
                <a:solidFill>
                  <a:srgbClr val="5B6472"/>
                </a:solidFill>
                <a:latin typeface="Calibri" pitchFamily="34" charset="0"/>
                <a:ea typeface="Calibri" pitchFamily="34" charset="-122"/>
                <a:cs typeface="Calibri" pitchFamily="34" charset="-120"/>
              </a:rPr>
              <a:t>None</a:t>
            </a:r>
            <a:endParaRPr lang="en-US" sz="1600" dirty="0"/>
          </a:p>
        </p:txBody>
      </p:sp>
      <p:sp>
        <p:nvSpPr>
          <p:cNvPr id="19" name="Shape 17"/>
          <p:cNvSpPr/>
          <p:nvPr/>
        </p:nvSpPr>
        <p:spPr>
          <a:xfrm>
            <a:off x="7269480" y="4242816"/>
            <a:ext cx="4343400" cy="868680"/>
          </a:xfrm>
          <a:prstGeom prst="roundRect">
            <a:avLst>
              <a:gd name="adj" fmla="val 12632"/>
            </a:avLst>
          </a:prstGeom>
          <a:solidFill>
            <a:srgbClr val="14213D"/>
          </a:solidFill>
          <a:ln w="12700">
            <a:solidFill>
              <a:srgbClr val="14213D"/>
            </a:solidFill>
            <a:prstDash val="solid"/>
          </a:ln>
        </p:spPr>
      </p:sp>
      <p:sp>
        <p:nvSpPr>
          <p:cNvPr id="20" name="Text 18"/>
          <p:cNvSpPr txBox="1"/>
          <p:nvPr/>
        </p:nvSpPr>
        <p:spPr>
          <a:xfrm>
            <a:off x="7543800" y="4242816"/>
            <a:ext cx="3794760" cy="8686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Officers approve, suspend, and can stop all bookings at once</a:t>
            </a:r>
            <a:endParaRPr lang="en-US" sz="1600" dirty="0"/>
          </a:p>
        </p:txBody>
      </p:sp>
      <p:sp>
        <p:nvSpPr>
          <p:cNvPr id="21" name="Text 19"/>
          <p:cNvSpPr txBox="1"/>
          <p:nvPr/>
        </p:nvSpPr>
        <p:spPr>
          <a:xfrm>
            <a:off x="548640" y="5266944"/>
            <a:ext cx="2103120" cy="868680"/>
          </a:xfrm>
          <a:prstGeom prst="rect">
            <a:avLst/>
          </a:prstGeom>
          <a:noFill/>
          <a:ln/>
        </p:spPr>
        <p:txBody>
          <a:bodyPr wrap="square" lIns="0" tIns="0" rIns="0" bIns="0" rtlCol="0" anchor="ctr"/>
          <a:lstStyle/>
          <a:p>
            <a:pPr indent="0" marL="0">
              <a:buNone/>
            </a:pPr>
            <a:r>
              <a:rPr lang="en-US" sz="1800" b="1" dirty="0">
                <a:solidFill>
                  <a:srgbClr val="1B2433"/>
                </a:solidFill>
                <a:latin typeface="Calibri" pitchFamily="34" charset="0"/>
                <a:ea typeface="Calibri" pitchFamily="34" charset="-122"/>
                <a:cs typeface="Calibri" pitchFamily="34" charset="-120"/>
              </a:rPr>
              <a:t>Identity</a:t>
            </a:r>
            <a:endParaRPr lang="en-US" sz="1800" dirty="0"/>
          </a:p>
        </p:txBody>
      </p:sp>
      <p:sp>
        <p:nvSpPr>
          <p:cNvPr id="22" name="Shape 20"/>
          <p:cNvSpPr/>
          <p:nvPr/>
        </p:nvSpPr>
        <p:spPr>
          <a:xfrm>
            <a:off x="2788920" y="5266944"/>
            <a:ext cx="4297680" cy="868680"/>
          </a:xfrm>
          <a:prstGeom prst="roundRect">
            <a:avLst>
              <a:gd name="adj" fmla="val 12632"/>
            </a:avLst>
          </a:prstGeom>
          <a:solidFill>
            <a:srgbClr val="F2F4F8"/>
          </a:solidFill>
          <a:ln w="12700">
            <a:solidFill>
              <a:srgbClr val="F2F4F8"/>
            </a:solidFill>
            <a:prstDash val="solid"/>
          </a:ln>
        </p:spPr>
      </p:sp>
      <p:sp>
        <p:nvSpPr>
          <p:cNvPr id="23" name="Text 21"/>
          <p:cNvSpPr txBox="1"/>
          <p:nvPr/>
        </p:nvSpPr>
        <p:spPr>
          <a:xfrm>
            <a:off x="3063240" y="5266944"/>
            <a:ext cx="3749040" cy="868680"/>
          </a:xfrm>
          <a:prstGeom prst="rect">
            <a:avLst/>
          </a:prstGeom>
          <a:noFill/>
          <a:ln/>
        </p:spPr>
        <p:txBody>
          <a:bodyPr wrap="square" lIns="0" tIns="0" rIns="0" bIns="0" rtlCol="0" anchor="ctr"/>
          <a:lstStyle/>
          <a:p>
            <a:pPr indent="0" marL="0">
              <a:buNone/>
            </a:pPr>
            <a:r>
              <a:rPr lang="en-US" sz="1600" dirty="0">
                <a:solidFill>
                  <a:srgbClr val="5B6472"/>
                </a:solidFill>
                <a:latin typeface="Calibri" pitchFamily="34" charset="0"/>
                <a:ea typeface="Calibri" pitchFamily="34" charset="-122"/>
                <a:cs typeface="Calibri" pitchFamily="34" charset="-120"/>
              </a:rPr>
              <a:t>Varies by app</a:t>
            </a:r>
            <a:endParaRPr lang="en-US" sz="1600" dirty="0"/>
          </a:p>
        </p:txBody>
      </p:sp>
      <p:sp>
        <p:nvSpPr>
          <p:cNvPr id="24" name="Shape 22"/>
          <p:cNvSpPr/>
          <p:nvPr/>
        </p:nvSpPr>
        <p:spPr>
          <a:xfrm>
            <a:off x="7269480" y="5266944"/>
            <a:ext cx="4343400" cy="868680"/>
          </a:xfrm>
          <a:prstGeom prst="roundRect">
            <a:avLst>
              <a:gd name="adj" fmla="val 12632"/>
            </a:avLst>
          </a:prstGeom>
          <a:solidFill>
            <a:srgbClr val="14213D"/>
          </a:solidFill>
          <a:ln w="12700">
            <a:solidFill>
              <a:srgbClr val="14213D"/>
            </a:solidFill>
            <a:prstDash val="solid"/>
          </a:ln>
        </p:spPr>
      </p:sp>
      <p:sp>
        <p:nvSpPr>
          <p:cNvPr id="25" name="Text 23"/>
          <p:cNvSpPr txBox="1"/>
          <p:nvPr/>
        </p:nvSpPr>
        <p:spPr>
          <a:xfrm>
            <a:off x="7543800" y="5266944"/>
            <a:ext cx="3794760" cy="86868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Every driver and commuter ID-verified by the chapter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indent="0" marL="0">
              <a:buNone/>
            </a:pPr>
            <a:r>
              <a:rPr lang="en-US" sz="1200" b="1" spc="200" kern="0" dirty="0">
                <a:solidFill>
                  <a:srgbClr val="B7780A"/>
                </a:solidFill>
                <a:latin typeface="Calibri" pitchFamily="34" charset="0"/>
                <a:ea typeface="Calibri" pitchFamily="34" charset="-122"/>
                <a:cs typeface="Calibri" pitchFamily="34" charset="-120"/>
              </a:rPr>
              <a:t>OBJECTIVES</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1B2433"/>
                </a:solidFill>
                <a:latin typeface="Calibri" pitchFamily="34" charset="0"/>
                <a:ea typeface="Calibri" pitchFamily="34" charset="-122"/>
                <a:cs typeface="Calibri" pitchFamily="34" charset="-120"/>
              </a:rPr>
              <a:t>What this study will do</a:t>
            </a:r>
            <a:endParaRPr lang="en-US" sz="3400" dirty="0"/>
          </a:p>
        </p:txBody>
      </p:sp>
      <p:sp>
        <p:nvSpPr>
          <p:cNvPr id="4" name="Shape 2"/>
          <p:cNvSpPr/>
          <p:nvPr/>
        </p:nvSpPr>
        <p:spPr>
          <a:xfrm>
            <a:off x="548640" y="1645920"/>
            <a:ext cx="4114800" cy="4663440"/>
          </a:xfrm>
          <a:prstGeom prst="roundRect">
            <a:avLst>
              <a:gd name="adj" fmla="val 2667"/>
            </a:avLst>
          </a:prstGeom>
          <a:solidFill>
            <a:srgbClr val="14213D"/>
          </a:solidFill>
          <a:ln w="12700">
            <a:solidFill>
              <a:srgbClr val="14213D"/>
            </a:solidFill>
            <a:prstDash val="solid"/>
          </a:ln>
        </p:spPr>
      </p:sp>
      <p:sp>
        <p:nvSpPr>
          <p:cNvPr id="5" name="Text 3"/>
          <p:cNvSpPr txBox="1"/>
          <p:nvPr/>
        </p:nvSpPr>
        <p:spPr>
          <a:xfrm>
            <a:off x="868680" y="1965960"/>
            <a:ext cx="3474720" cy="320040"/>
          </a:xfrm>
          <a:prstGeom prst="rect">
            <a:avLst/>
          </a:prstGeom>
          <a:noFill/>
          <a:ln/>
        </p:spPr>
        <p:txBody>
          <a:bodyPr wrap="square" lIns="0" tIns="0" rIns="0" bIns="0" rtlCol="0" anchor="ctr"/>
          <a:lstStyle/>
          <a:p>
            <a:pPr indent="0" marL="0">
              <a:buNone/>
            </a:pPr>
            <a:r>
              <a:rPr lang="en-US" sz="1300" b="1" spc="200" kern="0" dirty="0">
                <a:solidFill>
                  <a:srgbClr val="F5A524"/>
                </a:solidFill>
                <a:latin typeface="Calibri" pitchFamily="34" charset="0"/>
                <a:ea typeface="Calibri" pitchFamily="34" charset="-122"/>
                <a:cs typeface="Calibri" pitchFamily="34" charset="-120"/>
              </a:rPr>
              <a:t>GENERAL OBJECTIVE</a:t>
            </a:r>
            <a:endParaRPr lang="en-US" sz="1300" dirty="0"/>
          </a:p>
        </p:txBody>
      </p:sp>
      <p:sp>
        <p:nvSpPr>
          <p:cNvPr id="6" name="Text 4"/>
          <p:cNvSpPr txBox="1"/>
          <p:nvPr/>
        </p:nvSpPr>
        <p:spPr>
          <a:xfrm>
            <a:off x="868680" y="2377440"/>
            <a:ext cx="3474720" cy="3657600"/>
          </a:xfrm>
          <a:prstGeom prst="rect">
            <a:avLst/>
          </a:prstGeom>
          <a:noFill/>
          <a:ln/>
        </p:spPr>
        <p:txBody>
          <a:bodyPr wrap="square" lIns="0" tIns="0" rIns="0" bIns="0" rtlCol="0" anchor="t"/>
          <a:lstStyle/>
          <a:p>
            <a:pPr indent="0" marL="0">
              <a:lnSpc>
                <a:spcPct val="115000"/>
              </a:lnSpc>
              <a:buNone/>
            </a:pPr>
            <a:r>
              <a:rPr lang="en-US" sz="1800" dirty="0">
                <a:solidFill>
                  <a:srgbClr val="FFFFFF"/>
                </a:solidFill>
                <a:latin typeface="Calibri" pitchFamily="34" charset="0"/>
                <a:ea typeface="Calibri" pitchFamily="34" charset="-122"/>
                <a:cs typeface="Calibri" pitchFamily="34" charset="-120"/>
              </a:rPr>
              <a:t>To design and develop TrikeKoTo, a mobile and web ride-hailing system that connects commuters with the nearest available TODA tricycle while keeping dispatch, driver verification and records under the chapter's control.</a:t>
            </a:r>
            <a:endParaRPr lang="en-US" sz="1800" dirty="0"/>
          </a:p>
        </p:txBody>
      </p:sp>
      <p:sp>
        <p:nvSpPr>
          <p:cNvPr id="7" name="Shape 5"/>
          <p:cNvSpPr/>
          <p:nvPr/>
        </p:nvSpPr>
        <p:spPr>
          <a:xfrm>
            <a:off x="5120640" y="1691640"/>
            <a:ext cx="548640" cy="548640"/>
          </a:xfrm>
          <a:prstGeom prst="ellipse">
            <a:avLst/>
          </a:prstGeom>
          <a:solidFill>
            <a:srgbClr val="F5A524"/>
          </a:solidFill>
          <a:ln w="12700">
            <a:solidFill>
              <a:srgbClr val="F5A524"/>
            </a:solidFill>
            <a:prstDash val="solid"/>
          </a:ln>
        </p:spPr>
      </p:sp>
      <p:sp>
        <p:nvSpPr>
          <p:cNvPr id="8" name="Text 6"/>
          <p:cNvSpPr txBox="1"/>
          <p:nvPr/>
        </p:nvSpPr>
        <p:spPr>
          <a:xfrm>
            <a:off x="5120640" y="1691640"/>
            <a:ext cx="548640" cy="548640"/>
          </a:xfrm>
          <a:prstGeom prst="rect">
            <a:avLst/>
          </a:prstGeom>
          <a:noFill/>
          <a:ln/>
        </p:spPr>
        <p:txBody>
          <a:bodyPr wrap="square" lIns="0" tIns="0" rIns="0" bIns="0" rtlCol="0" anchor="ctr"/>
          <a:lstStyle/>
          <a:p>
            <a:pPr algn="ctr" indent="0" marL="0">
              <a:buNone/>
            </a:pPr>
            <a:r>
              <a:rPr lang="en-US" sz="1560" b="1" dirty="0">
                <a:solidFill>
                  <a:srgbClr val="14213D"/>
                </a:solidFill>
                <a:latin typeface="Calibri" pitchFamily="34" charset="0"/>
                <a:ea typeface="Calibri" pitchFamily="34" charset="-122"/>
                <a:cs typeface="Calibri" pitchFamily="34" charset="-120"/>
              </a:rPr>
              <a:t>1</a:t>
            </a:r>
            <a:endParaRPr lang="en-US" sz="1560" dirty="0"/>
          </a:p>
        </p:txBody>
      </p:sp>
      <p:sp>
        <p:nvSpPr>
          <p:cNvPr id="9" name="Text 7"/>
          <p:cNvSpPr txBox="1"/>
          <p:nvPr/>
        </p:nvSpPr>
        <p:spPr>
          <a:xfrm>
            <a:off x="5897880" y="1645920"/>
            <a:ext cx="5760720" cy="384048"/>
          </a:xfrm>
          <a:prstGeom prst="rect">
            <a:avLst/>
          </a:prstGeom>
          <a:noFill/>
          <a:ln/>
        </p:spPr>
        <p:txBody>
          <a:bodyPr wrap="square" lIns="0" tIns="0" rIns="0" bIns="0" rtlCol="0" anchor="ctr"/>
          <a:lstStyle/>
          <a:p>
            <a:pPr indent="0" marL="0">
              <a:buNone/>
            </a:pPr>
            <a:r>
              <a:rPr lang="en-US" sz="1900" b="1" dirty="0">
                <a:solidFill>
                  <a:srgbClr val="1B2433"/>
                </a:solidFill>
                <a:latin typeface="Calibri" pitchFamily="34" charset="0"/>
                <a:ea typeface="Calibri" pitchFamily="34" charset="-122"/>
                <a:cs typeface="Calibri" pitchFamily="34" charset="-120"/>
              </a:rPr>
              <a:t>Book and dispatch</a:t>
            </a:r>
            <a:endParaRPr lang="en-US" sz="1900" dirty="0"/>
          </a:p>
        </p:txBody>
      </p:sp>
      <p:sp>
        <p:nvSpPr>
          <p:cNvPr id="10" name="Text 8"/>
          <p:cNvSpPr txBox="1"/>
          <p:nvPr/>
        </p:nvSpPr>
        <p:spPr>
          <a:xfrm>
            <a:off x="5897880" y="2029968"/>
            <a:ext cx="5760720" cy="731520"/>
          </a:xfrm>
          <a:prstGeom prst="rect">
            <a:avLst/>
          </a:prstGeom>
          <a:noFill/>
          <a:ln/>
        </p:spPr>
        <p:txBody>
          <a:bodyPr wrap="square" lIns="0" tIns="0" rIns="0" bIns="0" rtlCol="0" anchor="t"/>
          <a:lstStyle/>
          <a:p>
            <a:pPr indent="0" marL="0">
              <a:buNone/>
            </a:pPr>
            <a:r>
              <a:rPr lang="en-US" sz="1500" dirty="0">
                <a:solidFill>
                  <a:srgbClr val="5B6472"/>
                </a:solidFill>
                <a:latin typeface="Calibri" pitchFamily="34" charset="0"/>
                <a:ea typeface="Calibri" pitchFamily="34" charset="-122"/>
                <a:cs typeface="Calibri" pitchFamily="34" charset="-120"/>
              </a:rPr>
              <a:t>Let commuters book a ride that is offered automatically to the nearest available driver, with live tracking.</a:t>
            </a:r>
            <a:endParaRPr lang="en-US" sz="1500" dirty="0"/>
          </a:p>
        </p:txBody>
      </p:sp>
      <p:sp>
        <p:nvSpPr>
          <p:cNvPr id="11" name="Shape 9"/>
          <p:cNvSpPr/>
          <p:nvPr/>
        </p:nvSpPr>
        <p:spPr>
          <a:xfrm>
            <a:off x="5120640" y="2880360"/>
            <a:ext cx="548640" cy="548640"/>
          </a:xfrm>
          <a:prstGeom prst="ellipse">
            <a:avLst/>
          </a:prstGeom>
          <a:solidFill>
            <a:srgbClr val="F5A524"/>
          </a:solidFill>
          <a:ln w="12700">
            <a:solidFill>
              <a:srgbClr val="F5A524"/>
            </a:solidFill>
            <a:prstDash val="solid"/>
          </a:ln>
        </p:spPr>
      </p:sp>
      <p:sp>
        <p:nvSpPr>
          <p:cNvPr id="12" name="Text 10"/>
          <p:cNvSpPr txBox="1"/>
          <p:nvPr/>
        </p:nvSpPr>
        <p:spPr>
          <a:xfrm>
            <a:off x="5120640" y="2880360"/>
            <a:ext cx="548640" cy="548640"/>
          </a:xfrm>
          <a:prstGeom prst="rect">
            <a:avLst/>
          </a:prstGeom>
          <a:noFill/>
          <a:ln/>
        </p:spPr>
        <p:txBody>
          <a:bodyPr wrap="square" lIns="0" tIns="0" rIns="0" bIns="0" rtlCol="0" anchor="ctr"/>
          <a:lstStyle/>
          <a:p>
            <a:pPr algn="ctr" indent="0" marL="0">
              <a:buNone/>
            </a:pPr>
            <a:r>
              <a:rPr lang="en-US" sz="1560" b="1" dirty="0">
                <a:solidFill>
                  <a:srgbClr val="14213D"/>
                </a:solidFill>
                <a:latin typeface="Calibri" pitchFamily="34" charset="0"/>
                <a:ea typeface="Calibri" pitchFamily="34" charset="-122"/>
                <a:cs typeface="Calibri" pitchFamily="34" charset="-120"/>
              </a:rPr>
              <a:t>2</a:t>
            </a:r>
            <a:endParaRPr lang="en-US" sz="1560" dirty="0"/>
          </a:p>
        </p:txBody>
      </p:sp>
      <p:sp>
        <p:nvSpPr>
          <p:cNvPr id="13" name="Text 11"/>
          <p:cNvSpPr txBox="1"/>
          <p:nvPr/>
        </p:nvSpPr>
        <p:spPr>
          <a:xfrm>
            <a:off x="5897880" y="2834640"/>
            <a:ext cx="5760720" cy="384048"/>
          </a:xfrm>
          <a:prstGeom prst="rect">
            <a:avLst/>
          </a:prstGeom>
          <a:noFill/>
          <a:ln/>
        </p:spPr>
        <p:txBody>
          <a:bodyPr wrap="square" lIns="0" tIns="0" rIns="0" bIns="0" rtlCol="0" anchor="ctr"/>
          <a:lstStyle/>
          <a:p>
            <a:pPr indent="0" marL="0">
              <a:buNone/>
            </a:pPr>
            <a:r>
              <a:rPr lang="en-US" sz="1900" b="1" dirty="0">
                <a:solidFill>
                  <a:srgbClr val="1B2433"/>
                </a:solidFill>
                <a:latin typeface="Calibri" pitchFamily="34" charset="0"/>
                <a:ea typeface="Calibri" pitchFamily="34" charset="-122"/>
                <a:cs typeface="Calibri" pitchFamily="34" charset="-120"/>
              </a:rPr>
              <a:t>Verify and administer</a:t>
            </a:r>
            <a:endParaRPr lang="en-US" sz="1900" dirty="0"/>
          </a:p>
        </p:txBody>
      </p:sp>
      <p:sp>
        <p:nvSpPr>
          <p:cNvPr id="14" name="Text 12"/>
          <p:cNvSpPr txBox="1"/>
          <p:nvPr/>
        </p:nvSpPr>
        <p:spPr>
          <a:xfrm>
            <a:off x="5897880" y="3218688"/>
            <a:ext cx="5760720" cy="731520"/>
          </a:xfrm>
          <a:prstGeom prst="rect">
            <a:avLst/>
          </a:prstGeom>
          <a:noFill/>
          <a:ln/>
        </p:spPr>
        <p:txBody>
          <a:bodyPr wrap="square" lIns="0" tIns="0" rIns="0" bIns="0" rtlCol="0" anchor="t"/>
          <a:lstStyle/>
          <a:p>
            <a:pPr indent="0" marL="0">
              <a:buNone/>
            </a:pPr>
            <a:r>
              <a:rPr lang="en-US" sz="1500" dirty="0">
                <a:solidFill>
                  <a:srgbClr val="5B6472"/>
                </a:solidFill>
                <a:latin typeface="Calibri" pitchFamily="34" charset="0"/>
                <a:ea typeface="Calibri" pitchFamily="34" charset="-122"/>
                <a:cs typeface="Calibri" pitchFamily="34" charset="-120"/>
              </a:rPr>
              <a:t>Let the TODA chapter approve drivers, verify government IDs, and monitor rides and feedback.</a:t>
            </a:r>
            <a:endParaRPr lang="en-US" sz="1500" dirty="0"/>
          </a:p>
        </p:txBody>
      </p:sp>
      <p:sp>
        <p:nvSpPr>
          <p:cNvPr id="15" name="Shape 13"/>
          <p:cNvSpPr/>
          <p:nvPr/>
        </p:nvSpPr>
        <p:spPr>
          <a:xfrm>
            <a:off x="5120640" y="4069080"/>
            <a:ext cx="548640" cy="548640"/>
          </a:xfrm>
          <a:prstGeom prst="ellipse">
            <a:avLst/>
          </a:prstGeom>
          <a:solidFill>
            <a:srgbClr val="F5A524"/>
          </a:solidFill>
          <a:ln w="12700">
            <a:solidFill>
              <a:srgbClr val="F5A524"/>
            </a:solidFill>
            <a:prstDash val="solid"/>
          </a:ln>
        </p:spPr>
      </p:sp>
      <p:sp>
        <p:nvSpPr>
          <p:cNvPr id="16" name="Text 14"/>
          <p:cNvSpPr txBox="1"/>
          <p:nvPr/>
        </p:nvSpPr>
        <p:spPr>
          <a:xfrm>
            <a:off x="5120640" y="4069080"/>
            <a:ext cx="548640" cy="548640"/>
          </a:xfrm>
          <a:prstGeom prst="rect">
            <a:avLst/>
          </a:prstGeom>
          <a:noFill/>
          <a:ln/>
        </p:spPr>
        <p:txBody>
          <a:bodyPr wrap="square" lIns="0" tIns="0" rIns="0" bIns="0" rtlCol="0" anchor="ctr"/>
          <a:lstStyle/>
          <a:p>
            <a:pPr algn="ctr" indent="0" marL="0">
              <a:buNone/>
            </a:pPr>
            <a:r>
              <a:rPr lang="en-US" sz="1560" b="1" dirty="0">
                <a:solidFill>
                  <a:srgbClr val="14213D"/>
                </a:solidFill>
                <a:latin typeface="Calibri" pitchFamily="34" charset="0"/>
                <a:ea typeface="Calibri" pitchFamily="34" charset="-122"/>
                <a:cs typeface="Calibri" pitchFamily="34" charset="-120"/>
              </a:rPr>
              <a:t>3</a:t>
            </a:r>
            <a:endParaRPr lang="en-US" sz="1560" dirty="0"/>
          </a:p>
        </p:txBody>
      </p:sp>
      <p:sp>
        <p:nvSpPr>
          <p:cNvPr id="17" name="Text 15"/>
          <p:cNvSpPr txBox="1"/>
          <p:nvPr/>
        </p:nvSpPr>
        <p:spPr>
          <a:xfrm>
            <a:off x="5897880" y="4023360"/>
            <a:ext cx="5760720" cy="384048"/>
          </a:xfrm>
          <a:prstGeom prst="rect">
            <a:avLst/>
          </a:prstGeom>
          <a:noFill/>
          <a:ln/>
        </p:spPr>
        <p:txBody>
          <a:bodyPr wrap="square" lIns="0" tIns="0" rIns="0" bIns="0" rtlCol="0" anchor="ctr"/>
          <a:lstStyle/>
          <a:p>
            <a:pPr indent="0" marL="0">
              <a:buNone/>
            </a:pPr>
            <a:r>
              <a:rPr lang="en-US" sz="1900" b="1" dirty="0">
                <a:solidFill>
                  <a:srgbClr val="1B2433"/>
                </a:solidFill>
                <a:latin typeface="Calibri" pitchFamily="34" charset="0"/>
                <a:ea typeface="Calibri" pitchFamily="34" charset="-122"/>
                <a:cs typeface="Calibri" pitchFamily="34" charset="-120"/>
              </a:rPr>
              <a:t>Protect personal data</a:t>
            </a:r>
            <a:endParaRPr lang="en-US" sz="1900" dirty="0"/>
          </a:p>
        </p:txBody>
      </p:sp>
      <p:sp>
        <p:nvSpPr>
          <p:cNvPr id="18" name="Text 16"/>
          <p:cNvSpPr txBox="1"/>
          <p:nvPr/>
        </p:nvSpPr>
        <p:spPr>
          <a:xfrm>
            <a:off x="5897880" y="4407408"/>
            <a:ext cx="5760720" cy="731520"/>
          </a:xfrm>
          <a:prstGeom prst="rect">
            <a:avLst/>
          </a:prstGeom>
          <a:noFill/>
          <a:ln/>
        </p:spPr>
        <p:txBody>
          <a:bodyPr wrap="square" lIns="0" tIns="0" rIns="0" bIns="0" rtlCol="0" anchor="t"/>
          <a:lstStyle/>
          <a:p>
            <a:pPr indent="0" marL="0">
              <a:buNone/>
            </a:pPr>
            <a:r>
              <a:rPr lang="en-US" sz="1500" dirty="0">
                <a:solidFill>
                  <a:srgbClr val="5B6472"/>
                </a:solidFill>
                <a:latin typeface="Calibri" pitchFamily="34" charset="0"/>
                <a:ea typeface="Calibri" pitchFamily="34" charset="-122"/>
                <a:cs typeface="Calibri" pitchFamily="34" charset="-120"/>
              </a:rPr>
              <a:t>Secure personal information in line with the Data Privacy Act of 2012 (RA 10173).</a:t>
            </a:r>
            <a:endParaRPr lang="en-US" sz="1500" dirty="0"/>
          </a:p>
        </p:txBody>
      </p:sp>
      <p:sp>
        <p:nvSpPr>
          <p:cNvPr id="19" name="Shape 17"/>
          <p:cNvSpPr/>
          <p:nvPr/>
        </p:nvSpPr>
        <p:spPr>
          <a:xfrm>
            <a:off x="5120640" y="5257800"/>
            <a:ext cx="548640" cy="548640"/>
          </a:xfrm>
          <a:prstGeom prst="ellipse">
            <a:avLst/>
          </a:prstGeom>
          <a:solidFill>
            <a:srgbClr val="F5A524"/>
          </a:solidFill>
          <a:ln w="12700">
            <a:solidFill>
              <a:srgbClr val="F5A524"/>
            </a:solidFill>
            <a:prstDash val="solid"/>
          </a:ln>
        </p:spPr>
      </p:sp>
      <p:sp>
        <p:nvSpPr>
          <p:cNvPr id="20" name="Text 18"/>
          <p:cNvSpPr txBox="1"/>
          <p:nvPr/>
        </p:nvSpPr>
        <p:spPr>
          <a:xfrm>
            <a:off x="5120640" y="5257800"/>
            <a:ext cx="548640" cy="548640"/>
          </a:xfrm>
          <a:prstGeom prst="rect">
            <a:avLst/>
          </a:prstGeom>
          <a:noFill/>
          <a:ln/>
        </p:spPr>
        <p:txBody>
          <a:bodyPr wrap="square" lIns="0" tIns="0" rIns="0" bIns="0" rtlCol="0" anchor="ctr"/>
          <a:lstStyle/>
          <a:p>
            <a:pPr algn="ctr" indent="0" marL="0">
              <a:buNone/>
            </a:pPr>
            <a:r>
              <a:rPr lang="en-US" sz="1560" b="1" dirty="0">
                <a:solidFill>
                  <a:srgbClr val="14213D"/>
                </a:solidFill>
                <a:latin typeface="Calibri" pitchFamily="34" charset="0"/>
                <a:ea typeface="Calibri" pitchFamily="34" charset="-122"/>
                <a:cs typeface="Calibri" pitchFamily="34" charset="-120"/>
              </a:rPr>
              <a:t>4</a:t>
            </a:r>
            <a:endParaRPr lang="en-US" sz="1560" dirty="0"/>
          </a:p>
        </p:txBody>
      </p:sp>
      <p:sp>
        <p:nvSpPr>
          <p:cNvPr id="21" name="Text 19"/>
          <p:cNvSpPr txBox="1"/>
          <p:nvPr/>
        </p:nvSpPr>
        <p:spPr>
          <a:xfrm>
            <a:off x="5897880" y="5212080"/>
            <a:ext cx="5760720" cy="384048"/>
          </a:xfrm>
          <a:prstGeom prst="rect">
            <a:avLst/>
          </a:prstGeom>
          <a:noFill/>
          <a:ln/>
        </p:spPr>
        <p:txBody>
          <a:bodyPr wrap="square" lIns="0" tIns="0" rIns="0" bIns="0" rtlCol="0" anchor="ctr"/>
          <a:lstStyle/>
          <a:p>
            <a:pPr indent="0" marL="0">
              <a:buNone/>
            </a:pPr>
            <a:r>
              <a:rPr lang="en-US" sz="1900" b="1" dirty="0">
                <a:solidFill>
                  <a:srgbClr val="1B2433"/>
                </a:solidFill>
                <a:latin typeface="Calibri" pitchFamily="34" charset="0"/>
                <a:ea typeface="Calibri" pitchFamily="34" charset="-122"/>
                <a:cs typeface="Calibri" pitchFamily="34" charset="-120"/>
              </a:rPr>
              <a:t>Evaluate</a:t>
            </a:r>
            <a:endParaRPr lang="en-US" sz="1900" dirty="0"/>
          </a:p>
        </p:txBody>
      </p:sp>
      <p:sp>
        <p:nvSpPr>
          <p:cNvPr id="22" name="Text 20"/>
          <p:cNvSpPr txBox="1"/>
          <p:nvPr/>
        </p:nvSpPr>
        <p:spPr>
          <a:xfrm>
            <a:off x="5897880" y="5596128"/>
            <a:ext cx="5760720" cy="731520"/>
          </a:xfrm>
          <a:prstGeom prst="rect">
            <a:avLst/>
          </a:prstGeom>
          <a:noFill/>
          <a:ln/>
        </p:spPr>
        <p:txBody>
          <a:bodyPr wrap="square" lIns="0" tIns="0" rIns="0" bIns="0" rtlCol="0" anchor="t"/>
          <a:lstStyle/>
          <a:p>
            <a:pPr indent="0" marL="0">
              <a:buNone/>
            </a:pPr>
            <a:r>
              <a:rPr lang="en-US" sz="1500" dirty="0">
                <a:solidFill>
                  <a:srgbClr val="5B6472"/>
                </a:solidFill>
                <a:latin typeface="Calibri" pitchFamily="34" charset="0"/>
                <a:ea typeface="Calibri" pitchFamily="34" charset="-122"/>
                <a:cs typeface="Calibri" pitchFamily="34" charset="-120"/>
              </a:rPr>
              <a:t>Assess usability and acceptance with TODA drivers and commuters, using task testing and the System Usability Scale.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indent="0" marL="0">
              <a:buNone/>
            </a:pPr>
            <a:r>
              <a:rPr lang="en-US" sz="1200" b="1" spc="200" kern="0" dirty="0">
                <a:solidFill>
                  <a:srgbClr val="B7780A"/>
                </a:solidFill>
                <a:latin typeface="Calibri" pitchFamily="34" charset="0"/>
                <a:ea typeface="Calibri" pitchFamily="34" charset="-122"/>
                <a:cs typeface="Calibri" pitchFamily="34" charset="-120"/>
              </a:rPr>
              <a:t>SCOPE AND LIMITATIONS</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1B2433"/>
                </a:solidFill>
                <a:latin typeface="Calibri" pitchFamily="34" charset="0"/>
                <a:ea typeface="Calibri" pitchFamily="34" charset="-122"/>
                <a:cs typeface="Calibri" pitchFamily="34" charset="-120"/>
              </a:rPr>
              <a:t>What is in, and what is not</a:t>
            </a:r>
            <a:endParaRPr lang="en-US" sz="3400" dirty="0"/>
          </a:p>
        </p:txBody>
      </p:sp>
      <p:sp>
        <p:nvSpPr>
          <p:cNvPr id="4" name="Shape 2"/>
          <p:cNvSpPr/>
          <p:nvPr/>
        </p:nvSpPr>
        <p:spPr>
          <a:xfrm>
            <a:off x="548640" y="1645920"/>
            <a:ext cx="5394960" cy="4663440"/>
          </a:xfrm>
          <a:prstGeom prst="roundRect">
            <a:avLst>
              <a:gd name="adj" fmla="val 2353"/>
            </a:avLst>
          </a:prstGeom>
          <a:solidFill>
            <a:srgbClr val="F2F4F8"/>
          </a:solidFill>
          <a:ln w="12700">
            <a:solidFill>
              <a:srgbClr val="F2F4F8"/>
            </a:solidFill>
            <a:prstDash val="solid"/>
          </a:ln>
        </p:spPr>
      </p:sp>
      <p:sp>
        <p:nvSpPr>
          <p:cNvPr id="5" name="Text 3"/>
          <p:cNvSpPr txBox="1"/>
          <p:nvPr/>
        </p:nvSpPr>
        <p:spPr>
          <a:xfrm>
            <a:off x="914400" y="1874520"/>
            <a:ext cx="4663440" cy="457200"/>
          </a:xfrm>
          <a:prstGeom prst="rect">
            <a:avLst/>
          </a:prstGeom>
          <a:noFill/>
          <a:ln/>
        </p:spPr>
        <p:txBody>
          <a:bodyPr wrap="square" lIns="0" tIns="0" rIns="0" bIns="0" rtlCol="0" anchor="ctr"/>
          <a:lstStyle/>
          <a:p>
            <a:pPr indent="0" marL="0">
              <a:buNone/>
            </a:pPr>
            <a:r>
              <a:rPr lang="en-US" sz="2200" b="1" dirty="0">
                <a:solidFill>
                  <a:srgbClr val="14213D"/>
                </a:solidFill>
                <a:latin typeface="Calibri" pitchFamily="34" charset="0"/>
                <a:ea typeface="Calibri" pitchFamily="34" charset="-122"/>
                <a:cs typeface="Calibri" pitchFamily="34" charset="-120"/>
              </a:rPr>
              <a:t>Scope</a:t>
            </a:r>
            <a:endParaRPr lang="en-US" sz="2200" dirty="0"/>
          </a:p>
        </p:txBody>
      </p:sp>
      <p:sp>
        <p:nvSpPr>
          <p:cNvPr id="6" name="Text 4"/>
          <p:cNvSpPr txBox="1"/>
          <p:nvPr/>
        </p:nvSpPr>
        <p:spPr>
          <a:xfrm>
            <a:off x="914400" y="2468880"/>
            <a:ext cx="4663440" cy="3657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2433"/>
                </a:solidFill>
                <a:latin typeface="Calibri" pitchFamily="34" charset="0"/>
                <a:ea typeface="Calibri" pitchFamily="34" charset="-122"/>
                <a:cs typeface="Calibri" pitchFamily="34" charset="-120"/>
              </a:rPr>
              <a:t>Commuter: mobile-number sign-in, booking, live tracking, cancelling, rating, feedback</a:t>
            </a:r>
            <a:endParaRPr lang="en-US" sz="1600" dirty="0"/>
          </a:p>
          <a:p>
            <a:pPr marL="342900" indent="-342900">
              <a:spcAft>
                <a:spcPts val="1000"/>
              </a:spcAft>
              <a:buSzPct val="100000"/>
              <a:buChar char="•"/>
            </a:pPr>
            <a:r>
              <a:rPr lang="en-US" sz="1600" dirty="0">
                <a:solidFill>
                  <a:srgbClr val="1B2433"/>
                </a:solidFill>
                <a:latin typeface="Calibri" pitchFamily="34" charset="0"/>
                <a:ea typeface="Calibri" pitchFamily="34" charset="-122"/>
                <a:cs typeface="Calibri" pitchFamily="34" charset="-120"/>
              </a:rPr>
              <a:t>Driver: registration, online/offline, ride offers, trip controls, navigation</a:t>
            </a:r>
            <a:endParaRPr lang="en-US" sz="1600" dirty="0"/>
          </a:p>
          <a:p>
            <a:pPr marL="342900" indent="-342900">
              <a:spcAft>
                <a:spcPts val="1000"/>
              </a:spcAft>
              <a:buSzPct val="100000"/>
              <a:buChar char="•"/>
            </a:pPr>
            <a:r>
              <a:rPr lang="en-US" sz="1600" dirty="0">
                <a:solidFill>
                  <a:srgbClr val="1B2433"/>
                </a:solidFill>
                <a:latin typeface="Calibri" pitchFamily="34" charset="0"/>
                <a:ea typeface="Calibri" pitchFamily="34" charset="-122"/>
                <a:cs typeface="Calibri" pitchFamily="34" charset="-120"/>
              </a:rPr>
              <a:t>TODA officer: driver approval, ID review, ride figures, feedback, dispatch settings</a:t>
            </a:r>
            <a:endParaRPr lang="en-US" sz="1600" dirty="0"/>
          </a:p>
          <a:p>
            <a:pPr marL="342900" indent="-342900">
              <a:spcAft>
                <a:spcPts val="1000"/>
              </a:spcAft>
              <a:buSzPct val="100000"/>
              <a:buChar char="•"/>
            </a:pPr>
            <a:r>
              <a:rPr lang="en-US" sz="1600" dirty="0">
                <a:solidFill>
                  <a:srgbClr val="1B2433"/>
                </a:solidFill>
                <a:latin typeface="Calibri" pitchFamily="34" charset="0"/>
                <a:ea typeface="Calibri" pitchFamily="34" charset="-122"/>
                <a:cs typeface="Calibri" pitchFamily="34" charset="-120"/>
              </a:rPr>
              <a:t>Android app and web version, in Filipino and English</a:t>
            </a:r>
            <a:endParaRPr lang="en-US" sz="1600" dirty="0"/>
          </a:p>
          <a:p>
            <a:pPr marL="342900" indent="-342900">
              <a:spcAft>
                <a:spcPts val="1000"/>
              </a:spcAft>
              <a:buSzPct val="100000"/>
              <a:buChar char="•"/>
            </a:pPr>
            <a:r>
              <a:rPr lang="en-US" sz="1600" dirty="0">
                <a:solidFill>
                  <a:srgbClr val="1B2433"/>
                </a:solidFill>
                <a:latin typeface="Calibri" pitchFamily="34" charset="0"/>
                <a:ea typeface="Calibri" pitchFamily="34" charset="-122"/>
                <a:cs typeface="Calibri" pitchFamily="34" charset="-120"/>
              </a:rPr>
              <a:t>One TODA chapter in San Marcelino, Zambales</a:t>
            </a:r>
            <a:endParaRPr lang="en-US" sz="1600" dirty="0"/>
          </a:p>
        </p:txBody>
      </p:sp>
      <p:sp>
        <p:nvSpPr>
          <p:cNvPr id="7" name="Shape 5"/>
          <p:cNvSpPr/>
          <p:nvPr/>
        </p:nvSpPr>
        <p:spPr>
          <a:xfrm>
            <a:off x="6217920" y="1645920"/>
            <a:ext cx="5394960" cy="4663440"/>
          </a:xfrm>
          <a:prstGeom prst="roundRect">
            <a:avLst>
              <a:gd name="adj" fmla="val 2353"/>
            </a:avLst>
          </a:prstGeom>
          <a:solidFill>
            <a:srgbClr val="F2F4F8"/>
          </a:solidFill>
          <a:ln w="12700">
            <a:solidFill>
              <a:srgbClr val="F2F4F8"/>
            </a:solidFill>
            <a:prstDash val="solid"/>
          </a:ln>
        </p:spPr>
      </p:sp>
      <p:sp>
        <p:nvSpPr>
          <p:cNvPr id="8" name="Text 6"/>
          <p:cNvSpPr txBox="1"/>
          <p:nvPr/>
        </p:nvSpPr>
        <p:spPr>
          <a:xfrm>
            <a:off x="6583680" y="1874520"/>
            <a:ext cx="4663440" cy="457200"/>
          </a:xfrm>
          <a:prstGeom prst="rect">
            <a:avLst/>
          </a:prstGeom>
          <a:noFill/>
          <a:ln/>
        </p:spPr>
        <p:txBody>
          <a:bodyPr wrap="square" lIns="0" tIns="0" rIns="0" bIns="0" rtlCol="0" anchor="ctr"/>
          <a:lstStyle/>
          <a:p>
            <a:pPr indent="0" marL="0">
              <a:buNone/>
            </a:pPr>
            <a:r>
              <a:rPr lang="en-US" sz="2200" b="1" dirty="0">
                <a:solidFill>
                  <a:srgbClr val="B7780A"/>
                </a:solidFill>
                <a:latin typeface="Calibri" pitchFamily="34" charset="0"/>
                <a:ea typeface="Calibri" pitchFamily="34" charset="-122"/>
                <a:cs typeface="Calibri" pitchFamily="34" charset="-120"/>
              </a:rPr>
              <a:t>Limitations</a:t>
            </a:r>
            <a:endParaRPr lang="en-US" sz="2200" dirty="0"/>
          </a:p>
        </p:txBody>
      </p:sp>
      <p:sp>
        <p:nvSpPr>
          <p:cNvPr id="9" name="Text 7"/>
          <p:cNvSpPr txBox="1"/>
          <p:nvPr/>
        </p:nvSpPr>
        <p:spPr>
          <a:xfrm>
            <a:off x="6583680" y="2468880"/>
            <a:ext cx="4663440" cy="36576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B2433"/>
                </a:solidFill>
                <a:latin typeface="Calibri" pitchFamily="34" charset="0"/>
                <a:ea typeface="Calibri" pitchFamily="34" charset="-122"/>
                <a:cs typeface="Calibri" pitchFamily="34" charset="-120"/>
              </a:rPr>
              <a:t>Booking needs mobile data or Wi-Fi</a:t>
            </a:r>
            <a:endParaRPr lang="en-US" sz="1600" dirty="0"/>
          </a:p>
          <a:p>
            <a:pPr marL="342900" indent="-342900">
              <a:spcAft>
                <a:spcPts val="1000"/>
              </a:spcAft>
              <a:buSzPct val="100000"/>
              <a:buChar char="•"/>
            </a:pPr>
            <a:r>
              <a:rPr lang="en-US" sz="1600" dirty="0">
                <a:solidFill>
                  <a:srgbClr val="1B2433"/>
                </a:solidFill>
                <a:latin typeface="Calibri" pitchFamily="34" charset="0"/>
                <a:ea typeface="Calibri" pitchFamily="34" charset="-122"/>
                <a:cs typeface="Calibri" pitchFamily="34" charset="-120"/>
              </a:rPr>
              <a:t>Rides go only to online drivers within the search radius</a:t>
            </a:r>
            <a:endParaRPr lang="en-US" sz="1600" dirty="0"/>
          </a:p>
          <a:p>
            <a:pPr marL="342900" indent="-342900">
              <a:spcAft>
                <a:spcPts val="1000"/>
              </a:spcAft>
              <a:buSzPct val="100000"/>
              <a:buChar char="•"/>
            </a:pPr>
            <a:r>
              <a:rPr lang="en-US" sz="1600" dirty="0">
                <a:solidFill>
                  <a:srgbClr val="1B2433"/>
                </a:solidFill>
                <a:latin typeface="Calibri" pitchFamily="34" charset="0"/>
                <a:ea typeface="Calibri" pitchFamily="34" charset="-122"/>
                <a:cs typeface="Calibri" pitchFamily="34" charset="-120"/>
              </a:rPr>
              <a:t>No in-app payment — the posted fare is paid in cash</a:t>
            </a:r>
            <a:endParaRPr lang="en-US" sz="1600" dirty="0"/>
          </a:p>
          <a:p>
            <a:pPr marL="342900" indent="-342900">
              <a:spcAft>
                <a:spcPts val="1000"/>
              </a:spcAft>
              <a:buSzPct val="100000"/>
              <a:buChar char="•"/>
            </a:pPr>
            <a:r>
              <a:rPr lang="en-US" sz="1600" dirty="0">
                <a:solidFill>
                  <a:srgbClr val="1B2433"/>
                </a:solidFill>
                <a:latin typeface="Calibri" pitchFamily="34" charset="0"/>
                <a:ea typeface="Calibri" pitchFamily="34" charset="-122"/>
                <a:cs typeface="Calibri" pitchFamily="34" charset="-120"/>
              </a:rPr>
              <a:t>A new user can book or drive only after an officer approves their ID</a:t>
            </a:r>
            <a:endParaRPr lang="en-US" sz="1600" dirty="0"/>
          </a:p>
          <a:p>
            <a:pPr marL="342900" indent="-342900">
              <a:spcAft>
                <a:spcPts val="1000"/>
              </a:spcAft>
              <a:buSzPct val="100000"/>
              <a:buChar char="•"/>
            </a:pPr>
            <a:r>
              <a:rPr lang="en-US" sz="1600" dirty="0">
                <a:solidFill>
                  <a:srgbClr val="1B2433"/>
                </a:solidFill>
                <a:latin typeface="Calibri" pitchFamily="34" charset="0"/>
                <a:ea typeface="Calibri" pitchFamily="34" charset="-122"/>
                <a:cs typeface="Calibri" pitchFamily="34" charset="-120"/>
              </a:rPr>
              <a:t>Maps and routing use free public OpenStreetMap services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indent="0" marL="0">
              <a:buNone/>
            </a:pPr>
            <a:r>
              <a:rPr lang="en-US" sz="1200" b="1" spc="200" kern="0" dirty="0">
                <a:solidFill>
                  <a:srgbClr val="B7780A"/>
                </a:solidFill>
                <a:latin typeface="Calibri" pitchFamily="34" charset="0"/>
                <a:ea typeface="Calibri" pitchFamily="34" charset="-122"/>
                <a:cs typeface="Calibri" pitchFamily="34" charset="-120"/>
              </a:rPr>
              <a:t>SYSTEM ARCHITECTURE</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1B2433"/>
                </a:solidFill>
                <a:latin typeface="Calibri" pitchFamily="34" charset="0"/>
                <a:ea typeface="Calibri" pitchFamily="34" charset="-122"/>
                <a:cs typeface="Calibri" pitchFamily="34" charset="-120"/>
              </a:rPr>
              <a:t>One app, one secure backend</a:t>
            </a:r>
            <a:endParaRPr lang="en-US" sz="3400" dirty="0"/>
          </a:p>
        </p:txBody>
      </p:sp>
      <p:sp>
        <p:nvSpPr>
          <p:cNvPr id="4" name="Shape 2"/>
          <p:cNvSpPr/>
          <p:nvPr/>
        </p:nvSpPr>
        <p:spPr>
          <a:xfrm>
            <a:off x="548640" y="1828800"/>
            <a:ext cx="2560320" cy="960120"/>
          </a:xfrm>
          <a:prstGeom prst="roundRect">
            <a:avLst>
              <a:gd name="adj" fmla="val 11429"/>
            </a:avLst>
          </a:prstGeom>
          <a:solidFill>
            <a:srgbClr val="F2F4F8"/>
          </a:solidFill>
          <a:ln w="12700">
            <a:solidFill>
              <a:srgbClr val="F2F4F8"/>
            </a:solidFill>
            <a:prstDash val="solid"/>
          </a:ln>
        </p:spPr>
      </p:sp>
      <p:sp>
        <p:nvSpPr>
          <p:cNvPr id="5" name="Text 3"/>
          <p:cNvSpPr txBox="1"/>
          <p:nvPr/>
        </p:nvSpPr>
        <p:spPr>
          <a:xfrm>
            <a:off x="777240" y="1965960"/>
            <a:ext cx="2194560" cy="365760"/>
          </a:xfrm>
          <a:prstGeom prst="rect">
            <a:avLst/>
          </a:prstGeom>
          <a:noFill/>
          <a:ln/>
        </p:spPr>
        <p:txBody>
          <a:bodyPr wrap="square" lIns="0" tIns="0" rIns="0" bIns="0" rtlCol="0" anchor="ctr"/>
          <a:lstStyle/>
          <a:p>
            <a:pPr indent="0" marL="0">
              <a:buNone/>
            </a:pPr>
            <a:r>
              <a:rPr lang="en-US" sz="1700" b="1" dirty="0">
                <a:solidFill>
                  <a:srgbClr val="1B2433"/>
                </a:solidFill>
                <a:latin typeface="Calibri" pitchFamily="34" charset="0"/>
                <a:ea typeface="Calibri" pitchFamily="34" charset="-122"/>
                <a:cs typeface="Calibri" pitchFamily="34" charset="-120"/>
              </a:rPr>
              <a:t>Commuter</a:t>
            </a:r>
            <a:endParaRPr lang="en-US" sz="1700" dirty="0"/>
          </a:p>
        </p:txBody>
      </p:sp>
      <p:sp>
        <p:nvSpPr>
          <p:cNvPr id="6" name="Text 4"/>
          <p:cNvSpPr txBox="1"/>
          <p:nvPr/>
        </p:nvSpPr>
        <p:spPr>
          <a:xfrm>
            <a:off x="777240" y="2331720"/>
            <a:ext cx="219456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Android · Web</a:t>
            </a:r>
            <a:endParaRPr lang="en-US" sz="1300" dirty="0"/>
          </a:p>
        </p:txBody>
      </p:sp>
      <p:sp>
        <p:nvSpPr>
          <p:cNvPr id="7" name="Shape 5"/>
          <p:cNvSpPr/>
          <p:nvPr/>
        </p:nvSpPr>
        <p:spPr>
          <a:xfrm>
            <a:off x="3154680" y="2304288"/>
            <a:ext cx="640080" cy="0"/>
          </a:xfrm>
          <a:prstGeom prst="line">
            <a:avLst/>
          </a:prstGeom>
          <a:noFill/>
          <a:ln w="19050">
            <a:solidFill>
              <a:srgbClr val="5B6472"/>
            </a:solidFill>
            <a:prstDash val="solid"/>
            <a:tailEnd type="triangle"/>
          </a:ln>
        </p:spPr>
      </p:sp>
      <p:sp>
        <p:nvSpPr>
          <p:cNvPr id="8" name="Shape 6"/>
          <p:cNvSpPr/>
          <p:nvPr/>
        </p:nvSpPr>
        <p:spPr>
          <a:xfrm>
            <a:off x="548640" y="3017520"/>
            <a:ext cx="2560320" cy="960120"/>
          </a:xfrm>
          <a:prstGeom prst="roundRect">
            <a:avLst>
              <a:gd name="adj" fmla="val 11429"/>
            </a:avLst>
          </a:prstGeom>
          <a:solidFill>
            <a:srgbClr val="F2F4F8"/>
          </a:solidFill>
          <a:ln w="12700">
            <a:solidFill>
              <a:srgbClr val="F2F4F8"/>
            </a:solidFill>
            <a:prstDash val="solid"/>
          </a:ln>
        </p:spPr>
      </p:sp>
      <p:sp>
        <p:nvSpPr>
          <p:cNvPr id="9" name="Text 7"/>
          <p:cNvSpPr txBox="1"/>
          <p:nvPr/>
        </p:nvSpPr>
        <p:spPr>
          <a:xfrm>
            <a:off x="777240" y="3154680"/>
            <a:ext cx="2194560" cy="365760"/>
          </a:xfrm>
          <a:prstGeom prst="rect">
            <a:avLst/>
          </a:prstGeom>
          <a:noFill/>
          <a:ln/>
        </p:spPr>
        <p:txBody>
          <a:bodyPr wrap="square" lIns="0" tIns="0" rIns="0" bIns="0" rtlCol="0" anchor="ctr"/>
          <a:lstStyle/>
          <a:p>
            <a:pPr indent="0" marL="0">
              <a:buNone/>
            </a:pPr>
            <a:r>
              <a:rPr lang="en-US" sz="1700" b="1" dirty="0">
                <a:solidFill>
                  <a:srgbClr val="1B2433"/>
                </a:solidFill>
                <a:latin typeface="Calibri" pitchFamily="34" charset="0"/>
                <a:ea typeface="Calibri" pitchFamily="34" charset="-122"/>
                <a:cs typeface="Calibri" pitchFamily="34" charset="-120"/>
              </a:rPr>
              <a:t>Driver</a:t>
            </a:r>
            <a:endParaRPr lang="en-US" sz="1700" dirty="0"/>
          </a:p>
        </p:txBody>
      </p:sp>
      <p:sp>
        <p:nvSpPr>
          <p:cNvPr id="10" name="Text 8"/>
          <p:cNvSpPr txBox="1"/>
          <p:nvPr/>
        </p:nvSpPr>
        <p:spPr>
          <a:xfrm>
            <a:off x="777240" y="3520440"/>
            <a:ext cx="219456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Android</a:t>
            </a:r>
            <a:endParaRPr lang="en-US" sz="1300" dirty="0"/>
          </a:p>
        </p:txBody>
      </p:sp>
      <p:sp>
        <p:nvSpPr>
          <p:cNvPr id="11" name="Shape 9"/>
          <p:cNvSpPr/>
          <p:nvPr/>
        </p:nvSpPr>
        <p:spPr>
          <a:xfrm>
            <a:off x="3154680" y="3493008"/>
            <a:ext cx="640080" cy="0"/>
          </a:xfrm>
          <a:prstGeom prst="line">
            <a:avLst/>
          </a:prstGeom>
          <a:noFill/>
          <a:ln w="19050">
            <a:solidFill>
              <a:srgbClr val="5B6472"/>
            </a:solidFill>
            <a:prstDash val="solid"/>
            <a:tailEnd type="triangle"/>
          </a:ln>
        </p:spPr>
      </p:sp>
      <p:sp>
        <p:nvSpPr>
          <p:cNvPr id="12" name="Shape 10"/>
          <p:cNvSpPr/>
          <p:nvPr/>
        </p:nvSpPr>
        <p:spPr>
          <a:xfrm>
            <a:off x="548640" y="4206240"/>
            <a:ext cx="2560320" cy="960120"/>
          </a:xfrm>
          <a:prstGeom prst="roundRect">
            <a:avLst>
              <a:gd name="adj" fmla="val 11429"/>
            </a:avLst>
          </a:prstGeom>
          <a:solidFill>
            <a:srgbClr val="F2F4F8"/>
          </a:solidFill>
          <a:ln w="12700">
            <a:solidFill>
              <a:srgbClr val="F2F4F8"/>
            </a:solidFill>
            <a:prstDash val="solid"/>
          </a:ln>
        </p:spPr>
      </p:sp>
      <p:sp>
        <p:nvSpPr>
          <p:cNvPr id="13" name="Text 11"/>
          <p:cNvSpPr txBox="1"/>
          <p:nvPr/>
        </p:nvSpPr>
        <p:spPr>
          <a:xfrm>
            <a:off x="777240" y="4343400"/>
            <a:ext cx="2194560" cy="365760"/>
          </a:xfrm>
          <a:prstGeom prst="rect">
            <a:avLst/>
          </a:prstGeom>
          <a:noFill/>
          <a:ln/>
        </p:spPr>
        <p:txBody>
          <a:bodyPr wrap="square" lIns="0" tIns="0" rIns="0" bIns="0" rtlCol="0" anchor="ctr"/>
          <a:lstStyle/>
          <a:p>
            <a:pPr indent="0" marL="0">
              <a:buNone/>
            </a:pPr>
            <a:r>
              <a:rPr lang="en-US" sz="1700" b="1" dirty="0">
                <a:solidFill>
                  <a:srgbClr val="1B2433"/>
                </a:solidFill>
                <a:latin typeface="Calibri" pitchFamily="34" charset="0"/>
                <a:ea typeface="Calibri" pitchFamily="34" charset="-122"/>
                <a:cs typeface="Calibri" pitchFamily="34" charset="-120"/>
              </a:rPr>
              <a:t>TODA officer</a:t>
            </a:r>
            <a:endParaRPr lang="en-US" sz="1700" dirty="0"/>
          </a:p>
        </p:txBody>
      </p:sp>
      <p:sp>
        <p:nvSpPr>
          <p:cNvPr id="14" name="Text 12"/>
          <p:cNvSpPr txBox="1"/>
          <p:nvPr/>
        </p:nvSpPr>
        <p:spPr>
          <a:xfrm>
            <a:off x="777240" y="4709160"/>
            <a:ext cx="2194560" cy="320040"/>
          </a:xfrm>
          <a:prstGeom prst="rect">
            <a:avLst/>
          </a:prstGeom>
          <a:noFill/>
          <a:ln/>
        </p:spPr>
        <p:txBody>
          <a:bodyPr wrap="square" lIns="0" tIns="0" rIns="0" bIns="0" rtlCol="0" anchor="ctr"/>
          <a:lstStyle/>
          <a:p>
            <a:pPr indent="0" marL="0">
              <a:buNone/>
            </a:pPr>
            <a:r>
              <a:rPr lang="en-US" sz="1300" dirty="0">
                <a:solidFill>
                  <a:srgbClr val="5B6472"/>
                </a:solidFill>
                <a:latin typeface="Calibri" pitchFamily="34" charset="0"/>
                <a:ea typeface="Calibri" pitchFamily="34" charset="-122"/>
                <a:cs typeface="Calibri" pitchFamily="34" charset="-120"/>
              </a:rPr>
              <a:t>Android · Web</a:t>
            </a:r>
            <a:endParaRPr lang="en-US" sz="1300" dirty="0"/>
          </a:p>
        </p:txBody>
      </p:sp>
      <p:sp>
        <p:nvSpPr>
          <p:cNvPr id="15" name="Shape 13"/>
          <p:cNvSpPr/>
          <p:nvPr/>
        </p:nvSpPr>
        <p:spPr>
          <a:xfrm>
            <a:off x="3154680" y="4681728"/>
            <a:ext cx="640080" cy="0"/>
          </a:xfrm>
          <a:prstGeom prst="line">
            <a:avLst/>
          </a:prstGeom>
          <a:noFill/>
          <a:ln w="19050">
            <a:solidFill>
              <a:srgbClr val="5B6472"/>
            </a:solidFill>
            <a:prstDash val="solid"/>
            <a:tailEnd type="triangle"/>
          </a:ln>
        </p:spPr>
      </p:sp>
      <p:sp>
        <p:nvSpPr>
          <p:cNvPr id="16" name="Shape 14"/>
          <p:cNvSpPr/>
          <p:nvPr/>
        </p:nvSpPr>
        <p:spPr>
          <a:xfrm>
            <a:off x="3840480" y="1828800"/>
            <a:ext cx="2377440" cy="3337560"/>
          </a:xfrm>
          <a:prstGeom prst="roundRect">
            <a:avLst>
              <a:gd name="adj" fmla="val 4615"/>
            </a:avLst>
          </a:prstGeom>
          <a:solidFill>
            <a:srgbClr val="14213D"/>
          </a:solidFill>
          <a:ln w="12700">
            <a:solidFill>
              <a:srgbClr val="14213D"/>
            </a:solidFill>
            <a:prstDash val="solid"/>
          </a:ln>
        </p:spPr>
      </p:sp>
      <p:sp>
        <p:nvSpPr>
          <p:cNvPr id="17" name="Text 15"/>
          <p:cNvSpPr txBox="1"/>
          <p:nvPr/>
        </p:nvSpPr>
        <p:spPr>
          <a:xfrm>
            <a:off x="4023360" y="2286000"/>
            <a:ext cx="201168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TrikeKoTo app</a:t>
            </a:r>
            <a:endParaRPr lang="en-US" sz="2000" dirty="0"/>
          </a:p>
        </p:txBody>
      </p:sp>
      <p:sp>
        <p:nvSpPr>
          <p:cNvPr id="18" name="Text 16"/>
          <p:cNvSpPr txBox="1"/>
          <p:nvPr/>
        </p:nvSpPr>
        <p:spPr>
          <a:xfrm>
            <a:off x="4023360" y="2788920"/>
            <a:ext cx="2011680" cy="365760"/>
          </a:xfrm>
          <a:prstGeom prst="rect">
            <a:avLst/>
          </a:prstGeom>
          <a:noFill/>
          <a:ln/>
        </p:spPr>
        <p:txBody>
          <a:bodyPr wrap="square" lIns="0" tIns="0" rIns="0" bIns="0" rtlCol="0" anchor="ctr"/>
          <a:lstStyle/>
          <a:p>
            <a:pPr algn="ctr" indent="0" marL="0">
              <a:buNone/>
            </a:pPr>
            <a:r>
              <a:rPr lang="en-US" sz="1500" b="1" dirty="0">
                <a:solidFill>
                  <a:srgbClr val="F5A524"/>
                </a:solidFill>
                <a:latin typeface="Calibri" pitchFamily="34" charset="0"/>
                <a:ea typeface="Calibri" pitchFamily="34" charset="-122"/>
                <a:cs typeface="Calibri" pitchFamily="34" charset="-120"/>
              </a:rPr>
              <a:t>Flutter · Dart</a:t>
            </a:r>
            <a:endParaRPr lang="en-US" sz="1500" dirty="0"/>
          </a:p>
        </p:txBody>
      </p:sp>
      <p:sp>
        <p:nvSpPr>
          <p:cNvPr id="19" name="Text 17"/>
          <p:cNvSpPr txBox="1"/>
          <p:nvPr/>
        </p:nvSpPr>
        <p:spPr>
          <a:xfrm>
            <a:off x="4023360" y="3291840"/>
            <a:ext cx="2011680" cy="1097280"/>
          </a:xfrm>
          <a:prstGeom prst="rect">
            <a:avLst/>
          </a:prstGeom>
          <a:noFill/>
          <a:ln/>
        </p:spPr>
        <p:txBody>
          <a:bodyPr wrap="square" lIns="0" tIns="0" rIns="0" bIns="0" rtlCol="0" anchor="t"/>
          <a:lstStyle/>
          <a:p>
            <a:pPr algn="ctr" indent="0" marL="0">
              <a:buNone/>
            </a:pPr>
            <a:r>
              <a:rPr lang="en-US" sz="1400" dirty="0">
                <a:solidFill>
                  <a:srgbClr val="D6DEEA"/>
                </a:solidFill>
                <a:latin typeface="Calibri" pitchFamily="34" charset="0"/>
                <a:ea typeface="Calibri" pitchFamily="34" charset="-122"/>
                <a:cs typeface="Calibri" pitchFamily="34" charset="-120"/>
              </a:rPr>
              <a:t>One codebase for Android and the web</a:t>
            </a:r>
            <a:endParaRPr lang="en-US" sz="1400" dirty="0"/>
          </a:p>
        </p:txBody>
      </p:sp>
      <p:sp>
        <p:nvSpPr>
          <p:cNvPr id="20" name="Shape 18"/>
          <p:cNvSpPr/>
          <p:nvPr/>
        </p:nvSpPr>
        <p:spPr>
          <a:xfrm>
            <a:off x="6263640" y="3493008"/>
            <a:ext cx="640080" cy="0"/>
          </a:xfrm>
          <a:prstGeom prst="line">
            <a:avLst/>
          </a:prstGeom>
          <a:noFill/>
          <a:ln w="19050">
            <a:solidFill>
              <a:srgbClr val="5B6472"/>
            </a:solidFill>
            <a:prstDash val="solid"/>
            <a:tailEnd type="triangle"/>
          </a:ln>
        </p:spPr>
      </p:sp>
      <p:sp>
        <p:nvSpPr>
          <p:cNvPr id="21" name="Shape 19"/>
          <p:cNvSpPr/>
          <p:nvPr/>
        </p:nvSpPr>
        <p:spPr>
          <a:xfrm>
            <a:off x="6949440" y="1828800"/>
            <a:ext cx="4709160" cy="3337560"/>
          </a:xfrm>
          <a:prstGeom prst="roundRect">
            <a:avLst>
              <a:gd name="adj" fmla="val 3288"/>
            </a:avLst>
          </a:prstGeom>
          <a:solidFill>
            <a:srgbClr val="F2F4F8"/>
          </a:solidFill>
          <a:ln w="12700">
            <a:solidFill>
              <a:srgbClr val="F2F4F8"/>
            </a:solidFill>
            <a:prstDash val="solid"/>
          </a:ln>
        </p:spPr>
      </p:sp>
      <p:sp>
        <p:nvSpPr>
          <p:cNvPr id="22" name="Text 20"/>
          <p:cNvSpPr txBox="1"/>
          <p:nvPr/>
        </p:nvSpPr>
        <p:spPr>
          <a:xfrm>
            <a:off x="7178040" y="1920240"/>
            <a:ext cx="4206240" cy="411480"/>
          </a:xfrm>
          <a:prstGeom prst="rect">
            <a:avLst/>
          </a:prstGeom>
          <a:noFill/>
          <a:ln/>
        </p:spPr>
        <p:txBody>
          <a:bodyPr wrap="square" lIns="0" tIns="0" rIns="0" bIns="0" rtlCol="0" anchor="ctr"/>
          <a:lstStyle/>
          <a:p>
            <a:pPr indent="0" marL="0">
              <a:buNone/>
            </a:pPr>
            <a:r>
              <a:rPr lang="en-US" sz="1700" b="1" dirty="0">
                <a:solidFill>
                  <a:srgbClr val="1B2433"/>
                </a:solidFill>
                <a:latin typeface="Calibri" pitchFamily="34" charset="0"/>
                <a:ea typeface="Calibri" pitchFamily="34" charset="-122"/>
                <a:cs typeface="Calibri" pitchFamily="34" charset="-120"/>
              </a:rPr>
              <a:t>Firebase (Google Cloud)</a:t>
            </a:r>
            <a:endParaRPr lang="en-US" sz="1700" dirty="0"/>
          </a:p>
        </p:txBody>
      </p:sp>
      <p:sp>
        <p:nvSpPr>
          <p:cNvPr id="23" name="Shape 21"/>
          <p:cNvSpPr/>
          <p:nvPr/>
        </p:nvSpPr>
        <p:spPr>
          <a:xfrm>
            <a:off x="7132320" y="2395728"/>
            <a:ext cx="2103120" cy="777240"/>
          </a:xfrm>
          <a:prstGeom prst="roundRect">
            <a:avLst>
              <a:gd name="adj" fmla="val 14118"/>
            </a:avLst>
          </a:prstGeom>
          <a:solidFill>
            <a:srgbClr val="FFFFFF"/>
          </a:solidFill>
          <a:ln w="12700">
            <a:solidFill>
              <a:srgbClr val="D3D9E2"/>
            </a:solidFill>
            <a:prstDash val="solid"/>
          </a:ln>
        </p:spPr>
      </p:sp>
      <p:sp>
        <p:nvSpPr>
          <p:cNvPr id="24" name="Text 22"/>
          <p:cNvSpPr txBox="1"/>
          <p:nvPr/>
        </p:nvSpPr>
        <p:spPr>
          <a:xfrm>
            <a:off x="7269480" y="2468880"/>
            <a:ext cx="1828800" cy="320040"/>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Authentication</a:t>
            </a:r>
            <a:endParaRPr lang="en-US" sz="1400" dirty="0"/>
          </a:p>
        </p:txBody>
      </p:sp>
      <p:sp>
        <p:nvSpPr>
          <p:cNvPr id="25" name="Text 23"/>
          <p:cNvSpPr txBox="1"/>
          <p:nvPr/>
        </p:nvSpPr>
        <p:spPr>
          <a:xfrm>
            <a:off x="7269480" y="2788920"/>
            <a:ext cx="1828800" cy="32004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Phone and email sign-in</a:t>
            </a:r>
            <a:endParaRPr lang="en-US" sz="1100" dirty="0"/>
          </a:p>
        </p:txBody>
      </p:sp>
      <p:sp>
        <p:nvSpPr>
          <p:cNvPr id="26" name="Shape 24"/>
          <p:cNvSpPr/>
          <p:nvPr/>
        </p:nvSpPr>
        <p:spPr>
          <a:xfrm>
            <a:off x="9372600" y="2395728"/>
            <a:ext cx="2103120" cy="777240"/>
          </a:xfrm>
          <a:prstGeom prst="roundRect">
            <a:avLst>
              <a:gd name="adj" fmla="val 14118"/>
            </a:avLst>
          </a:prstGeom>
          <a:solidFill>
            <a:srgbClr val="FFFFFF"/>
          </a:solidFill>
          <a:ln w="12700">
            <a:solidFill>
              <a:srgbClr val="D3D9E2"/>
            </a:solidFill>
            <a:prstDash val="solid"/>
          </a:ln>
        </p:spPr>
      </p:sp>
      <p:sp>
        <p:nvSpPr>
          <p:cNvPr id="27" name="Text 25"/>
          <p:cNvSpPr txBox="1"/>
          <p:nvPr/>
        </p:nvSpPr>
        <p:spPr>
          <a:xfrm>
            <a:off x="9509760" y="2468880"/>
            <a:ext cx="1828800" cy="320040"/>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Cloud Firestore</a:t>
            </a:r>
            <a:endParaRPr lang="en-US" sz="1400" dirty="0"/>
          </a:p>
        </p:txBody>
      </p:sp>
      <p:sp>
        <p:nvSpPr>
          <p:cNvPr id="28" name="Text 26"/>
          <p:cNvSpPr txBox="1"/>
          <p:nvPr/>
        </p:nvSpPr>
        <p:spPr>
          <a:xfrm>
            <a:off x="9509760" y="2788920"/>
            <a:ext cx="1828800" cy="32004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Rides, drivers, security rules</a:t>
            </a:r>
            <a:endParaRPr lang="en-US" sz="1100" dirty="0"/>
          </a:p>
        </p:txBody>
      </p:sp>
      <p:sp>
        <p:nvSpPr>
          <p:cNvPr id="29" name="Shape 27"/>
          <p:cNvSpPr/>
          <p:nvPr/>
        </p:nvSpPr>
        <p:spPr>
          <a:xfrm>
            <a:off x="7132320" y="3291840"/>
            <a:ext cx="2103120" cy="777240"/>
          </a:xfrm>
          <a:prstGeom prst="roundRect">
            <a:avLst>
              <a:gd name="adj" fmla="val 14118"/>
            </a:avLst>
          </a:prstGeom>
          <a:solidFill>
            <a:srgbClr val="FFFFFF"/>
          </a:solidFill>
          <a:ln w="12700">
            <a:solidFill>
              <a:srgbClr val="D3D9E2"/>
            </a:solidFill>
            <a:prstDash val="solid"/>
          </a:ln>
        </p:spPr>
      </p:sp>
      <p:sp>
        <p:nvSpPr>
          <p:cNvPr id="30" name="Text 28"/>
          <p:cNvSpPr txBox="1"/>
          <p:nvPr/>
        </p:nvSpPr>
        <p:spPr>
          <a:xfrm>
            <a:off x="7269480" y="3364992"/>
            <a:ext cx="1828800" cy="320040"/>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Cloud Functions</a:t>
            </a:r>
            <a:endParaRPr lang="en-US" sz="1400" dirty="0"/>
          </a:p>
        </p:txBody>
      </p:sp>
      <p:sp>
        <p:nvSpPr>
          <p:cNvPr id="31" name="Text 29"/>
          <p:cNvSpPr txBox="1"/>
          <p:nvPr/>
        </p:nvSpPr>
        <p:spPr>
          <a:xfrm>
            <a:off x="7269480" y="3685032"/>
            <a:ext cx="1828800" cy="32004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Dispatch, ratings, ID retention</a:t>
            </a:r>
            <a:endParaRPr lang="en-US" sz="1100" dirty="0"/>
          </a:p>
        </p:txBody>
      </p:sp>
      <p:sp>
        <p:nvSpPr>
          <p:cNvPr id="32" name="Shape 30"/>
          <p:cNvSpPr/>
          <p:nvPr/>
        </p:nvSpPr>
        <p:spPr>
          <a:xfrm>
            <a:off x="9372600" y="3291840"/>
            <a:ext cx="2103120" cy="777240"/>
          </a:xfrm>
          <a:prstGeom prst="roundRect">
            <a:avLst>
              <a:gd name="adj" fmla="val 14118"/>
            </a:avLst>
          </a:prstGeom>
          <a:solidFill>
            <a:srgbClr val="FFFFFF"/>
          </a:solidFill>
          <a:ln w="12700">
            <a:solidFill>
              <a:srgbClr val="D3D9E2"/>
            </a:solidFill>
            <a:prstDash val="solid"/>
          </a:ln>
        </p:spPr>
      </p:sp>
      <p:sp>
        <p:nvSpPr>
          <p:cNvPr id="33" name="Text 31"/>
          <p:cNvSpPr txBox="1"/>
          <p:nvPr/>
        </p:nvSpPr>
        <p:spPr>
          <a:xfrm>
            <a:off x="9509760" y="3364992"/>
            <a:ext cx="1828800" cy="320040"/>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Cloud Storage</a:t>
            </a:r>
            <a:endParaRPr lang="en-US" sz="1400" dirty="0"/>
          </a:p>
        </p:txBody>
      </p:sp>
      <p:sp>
        <p:nvSpPr>
          <p:cNvPr id="34" name="Text 32"/>
          <p:cNvSpPr txBox="1"/>
          <p:nvPr/>
        </p:nvSpPr>
        <p:spPr>
          <a:xfrm>
            <a:off x="9509760" y="3685032"/>
            <a:ext cx="1828800" cy="32004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ID photos, profile photos</a:t>
            </a:r>
            <a:endParaRPr lang="en-US" sz="1100" dirty="0"/>
          </a:p>
        </p:txBody>
      </p:sp>
      <p:sp>
        <p:nvSpPr>
          <p:cNvPr id="35" name="Shape 33"/>
          <p:cNvSpPr/>
          <p:nvPr/>
        </p:nvSpPr>
        <p:spPr>
          <a:xfrm>
            <a:off x="7132320" y="4187952"/>
            <a:ext cx="2103120" cy="777240"/>
          </a:xfrm>
          <a:prstGeom prst="roundRect">
            <a:avLst>
              <a:gd name="adj" fmla="val 14118"/>
            </a:avLst>
          </a:prstGeom>
          <a:solidFill>
            <a:srgbClr val="FFFFFF"/>
          </a:solidFill>
          <a:ln w="12700">
            <a:solidFill>
              <a:srgbClr val="D3D9E2"/>
            </a:solidFill>
            <a:prstDash val="solid"/>
          </a:ln>
        </p:spPr>
      </p:sp>
      <p:sp>
        <p:nvSpPr>
          <p:cNvPr id="36" name="Text 34"/>
          <p:cNvSpPr txBox="1"/>
          <p:nvPr/>
        </p:nvSpPr>
        <p:spPr>
          <a:xfrm>
            <a:off x="7269480" y="4261104"/>
            <a:ext cx="1828800" cy="320040"/>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Cloud Messaging</a:t>
            </a:r>
            <a:endParaRPr lang="en-US" sz="1400" dirty="0"/>
          </a:p>
        </p:txBody>
      </p:sp>
      <p:sp>
        <p:nvSpPr>
          <p:cNvPr id="37" name="Text 35"/>
          <p:cNvSpPr txBox="1"/>
          <p:nvPr/>
        </p:nvSpPr>
        <p:spPr>
          <a:xfrm>
            <a:off x="7269480" y="4581144"/>
            <a:ext cx="1828800" cy="32004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Ride offer notifications</a:t>
            </a:r>
            <a:endParaRPr lang="en-US" sz="1100" dirty="0"/>
          </a:p>
        </p:txBody>
      </p:sp>
      <p:sp>
        <p:nvSpPr>
          <p:cNvPr id="38" name="Shape 36"/>
          <p:cNvSpPr/>
          <p:nvPr/>
        </p:nvSpPr>
        <p:spPr>
          <a:xfrm>
            <a:off x="9372600" y="4187952"/>
            <a:ext cx="2103120" cy="777240"/>
          </a:xfrm>
          <a:prstGeom prst="roundRect">
            <a:avLst>
              <a:gd name="adj" fmla="val 14118"/>
            </a:avLst>
          </a:prstGeom>
          <a:solidFill>
            <a:srgbClr val="FFFFFF"/>
          </a:solidFill>
          <a:ln w="12700">
            <a:solidFill>
              <a:srgbClr val="D3D9E2"/>
            </a:solidFill>
            <a:prstDash val="solid"/>
          </a:ln>
        </p:spPr>
      </p:sp>
      <p:sp>
        <p:nvSpPr>
          <p:cNvPr id="39" name="Text 37"/>
          <p:cNvSpPr txBox="1"/>
          <p:nvPr/>
        </p:nvSpPr>
        <p:spPr>
          <a:xfrm>
            <a:off x="9509760" y="4261104"/>
            <a:ext cx="1828800" cy="320040"/>
          </a:xfrm>
          <a:prstGeom prst="rect">
            <a:avLst/>
          </a:prstGeom>
          <a:noFill/>
          <a:ln/>
        </p:spPr>
        <p:txBody>
          <a:bodyPr wrap="square" lIns="0" tIns="0" rIns="0" bIns="0" rtlCol="0" anchor="ctr"/>
          <a:lstStyle/>
          <a:p>
            <a:pPr indent="0" marL="0">
              <a:buNone/>
            </a:pPr>
            <a:r>
              <a:rPr lang="en-US" sz="1400" b="1" dirty="0">
                <a:solidFill>
                  <a:srgbClr val="1B2433"/>
                </a:solidFill>
                <a:latin typeface="Calibri" pitchFamily="34" charset="0"/>
                <a:ea typeface="Calibri" pitchFamily="34" charset="-122"/>
                <a:cs typeface="Calibri" pitchFamily="34" charset="-120"/>
              </a:rPr>
              <a:t>App Check</a:t>
            </a:r>
            <a:endParaRPr lang="en-US" sz="1400" dirty="0"/>
          </a:p>
        </p:txBody>
      </p:sp>
      <p:sp>
        <p:nvSpPr>
          <p:cNvPr id="40" name="Text 38"/>
          <p:cNvSpPr txBox="1"/>
          <p:nvPr/>
        </p:nvSpPr>
        <p:spPr>
          <a:xfrm>
            <a:off x="9509760" y="4581144"/>
            <a:ext cx="1828800" cy="320040"/>
          </a:xfrm>
          <a:prstGeom prst="rect">
            <a:avLst/>
          </a:prstGeom>
          <a:noFill/>
          <a:ln/>
        </p:spPr>
        <p:txBody>
          <a:bodyPr wrap="square" lIns="0" tIns="0" rIns="0" bIns="0" rtlCol="0" anchor="ctr"/>
          <a:lstStyle/>
          <a:p>
            <a:pPr indent="0" marL="0">
              <a:buNone/>
            </a:pPr>
            <a:r>
              <a:rPr lang="en-US" sz="1100" dirty="0">
                <a:solidFill>
                  <a:srgbClr val="5B6472"/>
                </a:solidFill>
                <a:latin typeface="Calibri" pitchFamily="34" charset="0"/>
                <a:ea typeface="Calibri" pitchFamily="34" charset="-122"/>
                <a:cs typeface="Calibri" pitchFamily="34" charset="-120"/>
              </a:rPr>
              <a:t>Only the genuine app gets in</a:t>
            </a:r>
            <a:endParaRPr lang="en-US" sz="1100" dirty="0"/>
          </a:p>
        </p:txBody>
      </p:sp>
      <p:sp>
        <p:nvSpPr>
          <p:cNvPr id="41" name="Shape 39"/>
          <p:cNvSpPr/>
          <p:nvPr/>
        </p:nvSpPr>
        <p:spPr>
          <a:xfrm>
            <a:off x="5029200" y="5212080"/>
            <a:ext cx="0" cy="411480"/>
          </a:xfrm>
          <a:prstGeom prst="line">
            <a:avLst/>
          </a:prstGeom>
          <a:noFill/>
          <a:ln w="19050">
            <a:solidFill>
              <a:srgbClr val="5B6472"/>
            </a:solidFill>
            <a:prstDash val="solid"/>
            <a:tailEnd type="triangle"/>
          </a:ln>
        </p:spPr>
      </p:sp>
      <p:sp>
        <p:nvSpPr>
          <p:cNvPr id="42" name="Shape 40"/>
          <p:cNvSpPr/>
          <p:nvPr/>
        </p:nvSpPr>
        <p:spPr>
          <a:xfrm>
            <a:off x="3840480" y="5669280"/>
            <a:ext cx="7818120" cy="594360"/>
          </a:xfrm>
          <a:prstGeom prst="roundRect">
            <a:avLst>
              <a:gd name="adj" fmla="val 18462"/>
            </a:avLst>
          </a:prstGeom>
          <a:solidFill>
            <a:srgbClr val="FFFFFF"/>
          </a:solidFill>
          <a:ln w="12700">
            <a:solidFill>
              <a:srgbClr val="D3D9E2"/>
            </a:solidFill>
            <a:prstDash val="solid"/>
          </a:ln>
        </p:spPr>
      </p:sp>
      <p:sp>
        <p:nvSpPr>
          <p:cNvPr id="43" name="Text 41"/>
          <p:cNvSpPr txBox="1"/>
          <p:nvPr/>
        </p:nvSpPr>
        <p:spPr>
          <a:xfrm>
            <a:off x="4069080" y="5669280"/>
            <a:ext cx="7406640" cy="594360"/>
          </a:xfrm>
          <a:prstGeom prst="rect">
            <a:avLst/>
          </a:prstGeom>
          <a:noFill/>
          <a:ln/>
        </p:spPr>
        <p:txBody>
          <a:bodyPr wrap="square" lIns="0" tIns="0" rIns="0" bIns="0" rtlCol="0" anchor="ctr"/>
          <a:lstStyle/>
          <a:p>
            <a:pPr indent="0" marL="0">
              <a:buNone/>
            </a:pPr>
            <a:r>
              <a:rPr lang="en-US" sz="1400" dirty="0">
                <a:solidFill>
                  <a:srgbClr val="1B2433"/>
                </a:solidFill>
                <a:latin typeface="Calibri" pitchFamily="34" charset="0"/>
                <a:ea typeface="Calibri" pitchFamily="34" charset="-122"/>
                <a:cs typeface="Calibri" pitchFamily="34" charset="-120"/>
              </a:rPr>
              <a:t>Maps: OpenStreetMap tiles · OSRM road routing · Nominatim place search</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indent="0" marL="0">
              <a:buNone/>
            </a:pPr>
            <a:r>
              <a:rPr lang="en-US" sz="1200" b="1" spc="200" kern="0" dirty="0">
                <a:solidFill>
                  <a:srgbClr val="B7780A"/>
                </a:solidFill>
                <a:latin typeface="Calibri" pitchFamily="34" charset="0"/>
                <a:ea typeface="Calibri" pitchFamily="34" charset="-122"/>
                <a:cs typeface="Calibri" pitchFamily="34" charset="-120"/>
              </a:rPr>
              <a:t>HOW A BOOKING WORKS</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1B2433"/>
                </a:solidFill>
                <a:latin typeface="Calibri" pitchFamily="34" charset="0"/>
                <a:ea typeface="Calibri" pitchFamily="34" charset="-122"/>
                <a:cs typeface="Calibri" pitchFamily="34" charset="-120"/>
              </a:rPr>
              <a:t>Nearest available driver, one at a time</a:t>
            </a:r>
            <a:endParaRPr lang="en-US" sz="3400" dirty="0"/>
          </a:p>
        </p:txBody>
      </p:sp>
      <p:sp>
        <p:nvSpPr>
          <p:cNvPr id="4" name="Shape 2"/>
          <p:cNvSpPr/>
          <p:nvPr/>
        </p:nvSpPr>
        <p:spPr>
          <a:xfrm>
            <a:off x="548640" y="1691640"/>
            <a:ext cx="640080" cy="640080"/>
          </a:xfrm>
          <a:prstGeom prst="ellipse">
            <a:avLst/>
          </a:prstGeom>
          <a:solidFill>
            <a:srgbClr val="F5A524"/>
          </a:solidFill>
          <a:ln w="12700">
            <a:solidFill>
              <a:srgbClr val="F5A524"/>
            </a:solidFill>
            <a:prstDash val="solid"/>
          </a:ln>
        </p:spPr>
      </p:sp>
      <p:sp>
        <p:nvSpPr>
          <p:cNvPr id="5" name="Text 3"/>
          <p:cNvSpPr txBox="1"/>
          <p:nvPr/>
        </p:nvSpPr>
        <p:spPr>
          <a:xfrm>
            <a:off x="548640" y="1691640"/>
            <a:ext cx="640080" cy="640080"/>
          </a:xfrm>
          <a:prstGeom prst="rect">
            <a:avLst/>
          </a:prstGeom>
          <a:noFill/>
          <a:ln/>
        </p:spPr>
        <p:txBody>
          <a:bodyPr wrap="square" lIns="0" tIns="0" rIns="0" bIns="0" rtlCol="0" anchor="ctr"/>
          <a:lstStyle/>
          <a:p>
            <a:pPr algn="ctr" indent="0" marL="0">
              <a:buNone/>
            </a:pPr>
            <a:r>
              <a:rPr lang="en-US" sz="1820" b="1" dirty="0">
                <a:solidFill>
                  <a:srgbClr val="14213D"/>
                </a:solidFill>
                <a:latin typeface="Calibri" pitchFamily="34" charset="0"/>
                <a:ea typeface="Calibri" pitchFamily="34" charset="-122"/>
                <a:cs typeface="Calibri" pitchFamily="34" charset="-120"/>
              </a:rPr>
              <a:t>1</a:t>
            </a:r>
            <a:endParaRPr lang="en-US" sz="1820" dirty="0"/>
          </a:p>
        </p:txBody>
      </p:sp>
      <p:sp>
        <p:nvSpPr>
          <p:cNvPr id="6" name="Shape 4"/>
          <p:cNvSpPr/>
          <p:nvPr/>
        </p:nvSpPr>
        <p:spPr>
          <a:xfrm>
            <a:off x="1325880" y="2011680"/>
            <a:ext cx="1371600" cy="0"/>
          </a:xfrm>
          <a:prstGeom prst="line">
            <a:avLst/>
          </a:prstGeom>
          <a:noFill/>
          <a:ln w="19050">
            <a:solidFill>
              <a:srgbClr val="5B6472"/>
            </a:solidFill>
            <a:prstDash val="solid"/>
            <a:tailEnd type="triangle"/>
          </a:ln>
        </p:spPr>
      </p:sp>
      <p:sp>
        <p:nvSpPr>
          <p:cNvPr id="7" name="Text 5"/>
          <p:cNvSpPr txBox="1"/>
          <p:nvPr/>
        </p:nvSpPr>
        <p:spPr>
          <a:xfrm>
            <a:off x="548640" y="2514600"/>
            <a:ext cx="2103120" cy="411480"/>
          </a:xfrm>
          <a:prstGeom prst="rect">
            <a:avLst/>
          </a:prstGeom>
          <a:noFill/>
          <a:ln/>
        </p:spPr>
        <p:txBody>
          <a:bodyPr wrap="square" lIns="0" tIns="0" rIns="0" bIns="0" rtlCol="0" anchor="ctr"/>
          <a:lstStyle/>
          <a:p>
            <a:pPr indent="0" marL="0">
              <a:buNone/>
            </a:pPr>
            <a:r>
              <a:rPr lang="en-US" sz="1700" b="1" dirty="0">
                <a:solidFill>
                  <a:srgbClr val="1B2433"/>
                </a:solidFill>
                <a:latin typeface="Calibri" pitchFamily="34" charset="0"/>
                <a:ea typeface="Calibri" pitchFamily="34" charset="-122"/>
                <a:cs typeface="Calibri" pitchFamily="34" charset="-120"/>
              </a:rPr>
              <a:t>Commuter books</a:t>
            </a:r>
            <a:endParaRPr lang="en-US" sz="1700" dirty="0"/>
          </a:p>
        </p:txBody>
      </p:sp>
      <p:sp>
        <p:nvSpPr>
          <p:cNvPr id="8" name="Text 6"/>
          <p:cNvSpPr txBox="1"/>
          <p:nvPr/>
        </p:nvSpPr>
        <p:spPr>
          <a:xfrm>
            <a:off x="548640" y="2926080"/>
            <a:ext cx="2011680" cy="100584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Pickup and drop-off set on the map</a:t>
            </a:r>
            <a:endParaRPr lang="en-US" sz="1400" dirty="0"/>
          </a:p>
        </p:txBody>
      </p:sp>
      <p:sp>
        <p:nvSpPr>
          <p:cNvPr id="9" name="Shape 7"/>
          <p:cNvSpPr/>
          <p:nvPr/>
        </p:nvSpPr>
        <p:spPr>
          <a:xfrm>
            <a:off x="2834640" y="1691640"/>
            <a:ext cx="640080" cy="640080"/>
          </a:xfrm>
          <a:prstGeom prst="ellipse">
            <a:avLst/>
          </a:prstGeom>
          <a:solidFill>
            <a:srgbClr val="F5A524"/>
          </a:solidFill>
          <a:ln w="12700">
            <a:solidFill>
              <a:srgbClr val="F5A524"/>
            </a:solidFill>
            <a:prstDash val="solid"/>
          </a:ln>
        </p:spPr>
      </p:sp>
      <p:sp>
        <p:nvSpPr>
          <p:cNvPr id="10" name="Text 8"/>
          <p:cNvSpPr txBox="1"/>
          <p:nvPr/>
        </p:nvSpPr>
        <p:spPr>
          <a:xfrm>
            <a:off x="2834640" y="1691640"/>
            <a:ext cx="640080" cy="640080"/>
          </a:xfrm>
          <a:prstGeom prst="rect">
            <a:avLst/>
          </a:prstGeom>
          <a:noFill/>
          <a:ln/>
        </p:spPr>
        <p:txBody>
          <a:bodyPr wrap="square" lIns="0" tIns="0" rIns="0" bIns="0" rtlCol="0" anchor="ctr"/>
          <a:lstStyle/>
          <a:p>
            <a:pPr algn="ctr" indent="0" marL="0">
              <a:buNone/>
            </a:pPr>
            <a:r>
              <a:rPr lang="en-US" sz="1820" b="1" dirty="0">
                <a:solidFill>
                  <a:srgbClr val="14213D"/>
                </a:solidFill>
                <a:latin typeface="Calibri" pitchFamily="34" charset="0"/>
                <a:ea typeface="Calibri" pitchFamily="34" charset="-122"/>
                <a:cs typeface="Calibri" pitchFamily="34" charset="-120"/>
              </a:rPr>
              <a:t>2</a:t>
            </a:r>
            <a:endParaRPr lang="en-US" sz="1820" dirty="0"/>
          </a:p>
        </p:txBody>
      </p:sp>
      <p:sp>
        <p:nvSpPr>
          <p:cNvPr id="11" name="Shape 9"/>
          <p:cNvSpPr/>
          <p:nvPr/>
        </p:nvSpPr>
        <p:spPr>
          <a:xfrm>
            <a:off x="3611880" y="2011680"/>
            <a:ext cx="1371600" cy="0"/>
          </a:xfrm>
          <a:prstGeom prst="line">
            <a:avLst/>
          </a:prstGeom>
          <a:noFill/>
          <a:ln w="19050">
            <a:solidFill>
              <a:srgbClr val="5B6472"/>
            </a:solidFill>
            <a:prstDash val="solid"/>
            <a:tailEnd type="triangle"/>
          </a:ln>
        </p:spPr>
      </p:sp>
      <p:sp>
        <p:nvSpPr>
          <p:cNvPr id="12" name="Text 10"/>
          <p:cNvSpPr txBox="1"/>
          <p:nvPr/>
        </p:nvSpPr>
        <p:spPr>
          <a:xfrm>
            <a:off x="2834640" y="2514600"/>
            <a:ext cx="2103120" cy="411480"/>
          </a:xfrm>
          <a:prstGeom prst="rect">
            <a:avLst/>
          </a:prstGeom>
          <a:noFill/>
          <a:ln/>
        </p:spPr>
        <p:txBody>
          <a:bodyPr wrap="square" lIns="0" tIns="0" rIns="0" bIns="0" rtlCol="0" anchor="ctr"/>
          <a:lstStyle/>
          <a:p>
            <a:pPr indent="0" marL="0">
              <a:buNone/>
            </a:pPr>
            <a:r>
              <a:rPr lang="en-US" sz="1700" b="1" dirty="0">
                <a:solidFill>
                  <a:srgbClr val="1B2433"/>
                </a:solidFill>
                <a:latin typeface="Calibri" pitchFamily="34" charset="0"/>
                <a:ea typeface="Calibri" pitchFamily="34" charset="-122"/>
                <a:cs typeface="Calibri" pitchFamily="34" charset="-120"/>
              </a:rPr>
              <a:t>Server searches</a:t>
            </a:r>
            <a:endParaRPr lang="en-US" sz="1700" dirty="0"/>
          </a:p>
        </p:txBody>
      </p:sp>
      <p:sp>
        <p:nvSpPr>
          <p:cNvPr id="13" name="Text 11"/>
          <p:cNvSpPr txBox="1"/>
          <p:nvPr/>
        </p:nvSpPr>
        <p:spPr>
          <a:xfrm>
            <a:off x="2834640" y="2926080"/>
            <a:ext cx="2011680" cy="100584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Approved drivers within 5 km, ranked by road distance</a:t>
            </a:r>
            <a:endParaRPr lang="en-US" sz="1400" dirty="0"/>
          </a:p>
        </p:txBody>
      </p:sp>
      <p:sp>
        <p:nvSpPr>
          <p:cNvPr id="14" name="Shape 12"/>
          <p:cNvSpPr/>
          <p:nvPr/>
        </p:nvSpPr>
        <p:spPr>
          <a:xfrm>
            <a:off x="5120640" y="1691640"/>
            <a:ext cx="640080" cy="640080"/>
          </a:xfrm>
          <a:prstGeom prst="ellipse">
            <a:avLst/>
          </a:prstGeom>
          <a:solidFill>
            <a:srgbClr val="F5A524"/>
          </a:solidFill>
          <a:ln w="12700">
            <a:solidFill>
              <a:srgbClr val="F5A524"/>
            </a:solidFill>
            <a:prstDash val="solid"/>
          </a:ln>
        </p:spPr>
      </p:sp>
      <p:sp>
        <p:nvSpPr>
          <p:cNvPr id="15" name="Text 13"/>
          <p:cNvSpPr txBox="1"/>
          <p:nvPr/>
        </p:nvSpPr>
        <p:spPr>
          <a:xfrm>
            <a:off x="5120640" y="1691640"/>
            <a:ext cx="640080" cy="640080"/>
          </a:xfrm>
          <a:prstGeom prst="rect">
            <a:avLst/>
          </a:prstGeom>
          <a:noFill/>
          <a:ln/>
        </p:spPr>
        <p:txBody>
          <a:bodyPr wrap="square" lIns="0" tIns="0" rIns="0" bIns="0" rtlCol="0" anchor="ctr"/>
          <a:lstStyle/>
          <a:p>
            <a:pPr algn="ctr" indent="0" marL="0">
              <a:buNone/>
            </a:pPr>
            <a:r>
              <a:rPr lang="en-US" sz="1820" b="1" dirty="0">
                <a:solidFill>
                  <a:srgbClr val="14213D"/>
                </a:solidFill>
                <a:latin typeface="Calibri" pitchFamily="34" charset="0"/>
                <a:ea typeface="Calibri" pitchFamily="34" charset="-122"/>
                <a:cs typeface="Calibri" pitchFamily="34" charset="-120"/>
              </a:rPr>
              <a:t>3</a:t>
            </a:r>
            <a:endParaRPr lang="en-US" sz="1820" dirty="0"/>
          </a:p>
        </p:txBody>
      </p:sp>
      <p:sp>
        <p:nvSpPr>
          <p:cNvPr id="16" name="Shape 14"/>
          <p:cNvSpPr/>
          <p:nvPr/>
        </p:nvSpPr>
        <p:spPr>
          <a:xfrm>
            <a:off x="5897880" y="2011680"/>
            <a:ext cx="1371600" cy="0"/>
          </a:xfrm>
          <a:prstGeom prst="line">
            <a:avLst/>
          </a:prstGeom>
          <a:noFill/>
          <a:ln w="19050">
            <a:solidFill>
              <a:srgbClr val="5B6472"/>
            </a:solidFill>
            <a:prstDash val="solid"/>
            <a:tailEnd type="triangle"/>
          </a:ln>
        </p:spPr>
      </p:sp>
      <p:sp>
        <p:nvSpPr>
          <p:cNvPr id="17" name="Text 15"/>
          <p:cNvSpPr txBox="1"/>
          <p:nvPr/>
        </p:nvSpPr>
        <p:spPr>
          <a:xfrm>
            <a:off x="5120640" y="2514600"/>
            <a:ext cx="2103120" cy="411480"/>
          </a:xfrm>
          <a:prstGeom prst="rect">
            <a:avLst/>
          </a:prstGeom>
          <a:noFill/>
          <a:ln/>
        </p:spPr>
        <p:txBody>
          <a:bodyPr wrap="square" lIns="0" tIns="0" rIns="0" bIns="0" rtlCol="0" anchor="ctr"/>
          <a:lstStyle/>
          <a:p>
            <a:pPr indent="0" marL="0">
              <a:buNone/>
            </a:pPr>
            <a:r>
              <a:rPr lang="en-US" sz="1700" b="1" dirty="0">
                <a:solidFill>
                  <a:srgbClr val="1B2433"/>
                </a:solidFill>
                <a:latin typeface="Calibri" pitchFamily="34" charset="0"/>
                <a:ea typeface="Calibri" pitchFamily="34" charset="-122"/>
                <a:cs typeface="Calibri" pitchFamily="34" charset="-120"/>
              </a:rPr>
              <a:t>Offer to nearest</a:t>
            </a:r>
            <a:endParaRPr lang="en-US" sz="1700" dirty="0"/>
          </a:p>
        </p:txBody>
      </p:sp>
      <p:sp>
        <p:nvSpPr>
          <p:cNvPr id="18" name="Text 16"/>
          <p:cNvSpPr txBox="1"/>
          <p:nvPr/>
        </p:nvSpPr>
        <p:spPr>
          <a:xfrm>
            <a:off x="5120640" y="2926080"/>
            <a:ext cx="2011680" cy="100584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That driver has 15 seconds to accept</a:t>
            </a:r>
            <a:endParaRPr lang="en-US" sz="1400" dirty="0"/>
          </a:p>
        </p:txBody>
      </p:sp>
      <p:sp>
        <p:nvSpPr>
          <p:cNvPr id="19" name="Shape 17"/>
          <p:cNvSpPr/>
          <p:nvPr/>
        </p:nvSpPr>
        <p:spPr>
          <a:xfrm>
            <a:off x="7406640" y="1691640"/>
            <a:ext cx="640080" cy="640080"/>
          </a:xfrm>
          <a:prstGeom prst="ellipse">
            <a:avLst/>
          </a:prstGeom>
          <a:solidFill>
            <a:srgbClr val="F5A524"/>
          </a:solidFill>
          <a:ln w="12700">
            <a:solidFill>
              <a:srgbClr val="F5A524"/>
            </a:solidFill>
            <a:prstDash val="solid"/>
          </a:ln>
        </p:spPr>
      </p:sp>
      <p:sp>
        <p:nvSpPr>
          <p:cNvPr id="20" name="Text 18"/>
          <p:cNvSpPr txBox="1"/>
          <p:nvPr/>
        </p:nvSpPr>
        <p:spPr>
          <a:xfrm>
            <a:off x="7406640" y="1691640"/>
            <a:ext cx="640080" cy="640080"/>
          </a:xfrm>
          <a:prstGeom prst="rect">
            <a:avLst/>
          </a:prstGeom>
          <a:noFill/>
          <a:ln/>
        </p:spPr>
        <p:txBody>
          <a:bodyPr wrap="square" lIns="0" tIns="0" rIns="0" bIns="0" rtlCol="0" anchor="ctr"/>
          <a:lstStyle/>
          <a:p>
            <a:pPr algn="ctr" indent="0" marL="0">
              <a:buNone/>
            </a:pPr>
            <a:r>
              <a:rPr lang="en-US" sz="1820" b="1" dirty="0">
                <a:solidFill>
                  <a:srgbClr val="14213D"/>
                </a:solidFill>
                <a:latin typeface="Calibri" pitchFamily="34" charset="0"/>
                <a:ea typeface="Calibri" pitchFamily="34" charset="-122"/>
                <a:cs typeface="Calibri" pitchFamily="34" charset="-120"/>
              </a:rPr>
              <a:t>4</a:t>
            </a:r>
            <a:endParaRPr lang="en-US" sz="1820" dirty="0"/>
          </a:p>
        </p:txBody>
      </p:sp>
      <p:sp>
        <p:nvSpPr>
          <p:cNvPr id="21" name="Shape 19"/>
          <p:cNvSpPr/>
          <p:nvPr/>
        </p:nvSpPr>
        <p:spPr>
          <a:xfrm>
            <a:off x="8183880" y="2011680"/>
            <a:ext cx="1371600" cy="0"/>
          </a:xfrm>
          <a:prstGeom prst="line">
            <a:avLst/>
          </a:prstGeom>
          <a:noFill/>
          <a:ln w="19050">
            <a:solidFill>
              <a:srgbClr val="5B6472"/>
            </a:solidFill>
            <a:prstDash val="solid"/>
            <a:tailEnd type="triangle"/>
          </a:ln>
        </p:spPr>
      </p:sp>
      <p:sp>
        <p:nvSpPr>
          <p:cNvPr id="22" name="Text 20"/>
          <p:cNvSpPr txBox="1"/>
          <p:nvPr/>
        </p:nvSpPr>
        <p:spPr>
          <a:xfrm>
            <a:off x="7406640" y="2514600"/>
            <a:ext cx="2103120" cy="411480"/>
          </a:xfrm>
          <a:prstGeom prst="rect">
            <a:avLst/>
          </a:prstGeom>
          <a:noFill/>
          <a:ln/>
        </p:spPr>
        <p:txBody>
          <a:bodyPr wrap="square" lIns="0" tIns="0" rIns="0" bIns="0" rtlCol="0" anchor="ctr"/>
          <a:lstStyle/>
          <a:p>
            <a:pPr indent="0" marL="0">
              <a:buNone/>
            </a:pPr>
            <a:r>
              <a:rPr lang="en-US" sz="1700" b="1" dirty="0">
                <a:solidFill>
                  <a:srgbClr val="1B2433"/>
                </a:solidFill>
                <a:latin typeface="Calibri" pitchFamily="34" charset="0"/>
                <a:ea typeface="Calibri" pitchFamily="34" charset="-122"/>
                <a:cs typeface="Calibri" pitchFamily="34" charset="-120"/>
              </a:rPr>
              <a:t>Next if no answer</a:t>
            </a:r>
            <a:endParaRPr lang="en-US" sz="1700" dirty="0"/>
          </a:p>
        </p:txBody>
      </p:sp>
      <p:sp>
        <p:nvSpPr>
          <p:cNvPr id="23" name="Text 21"/>
          <p:cNvSpPr txBox="1"/>
          <p:nvPr/>
        </p:nvSpPr>
        <p:spPr>
          <a:xfrm>
            <a:off x="7406640" y="2926080"/>
            <a:ext cx="2011680" cy="100584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Up to 10 drivers, for up to 5 minutes</a:t>
            </a:r>
            <a:endParaRPr lang="en-US" sz="1400" dirty="0"/>
          </a:p>
        </p:txBody>
      </p:sp>
      <p:sp>
        <p:nvSpPr>
          <p:cNvPr id="24" name="Shape 22"/>
          <p:cNvSpPr/>
          <p:nvPr/>
        </p:nvSpPr>
        <p:spPr>
          <a:xfrm>
            <a:off x="9692640" y="1691640"/>
            <a:ext cx="640080" cy="640080"/>
          </a:xfrm>
          <a:prstGeom prst="ellipse">
            <a:avLst/>
          </a:prstGeom>
          <a:solidFill>
            <a:srgbClr val="F5A524"/>
          </a:solidFill>
          <a:ln w="12700">
            <a:solidFill>
              <a:srgbClr val="F5A524"/>
            </a:solidFill>
            <a:prstDash val="solid"/>
          </a:ln>
        </p:spPr>
      </p:sp>
      <p:sp>
        <p:nvSpPr>
          <p:cNvPr id="25" name="Text 23"/>
          <p:cNvSpPr txBox="1"/>
          <p:nvPr/>
        </p:nvSpPr>
        <p:spPr>
          <a:xfrm>
            <a:off x="9692640" y="1691640"/>
            <a:ext cx="640080" cy="640080"/>
          </a:xfrm>
          <a:prstGeom prst="rect">
            <a:avLst/>
          </a:prstGeom>
          <a:noFill/>
          <a:ln/>
        </p:spPr>
        <p:txBody>
          <a:bodyPr wrap="square" lIns="0" tIns="0" rIns="0" bIns="0" rtlCol="0" anchor="ctr"/>
          <a:lstStyle/>
          <a:p>
            <a:pPr algn="ctr" indent="0" marL="0">
              <a:buNone/>
            </a:pPr>
            <a:r>
              <a:rPr lang="en-US" sz="1820" b="1" dirty="0">
                <a:solidFill>
                  <a:srgbClr val="14213D"/>
                </a:solidFill>
                <a:latin typeface="Calibri" pitchFamily="34" charset="0"/>
                <a:ea typeface="Calibri" pitchFamily="34" charset="-122"/>
                <a:cs typeface="Calibri" pitchFamily="34" charset="-120"/>
              </a:rPr>
              <a:t>5</a:t>
            </a:r>
            <a:endParaRPr lang="en-US" sz="1820" dirty="0"/>
          </a:p>
        </p:txBody>
      </p:sp>
      <p:sp>
        <p:nvSpPr>
          <p:cNvPr id="26" name="Text 24"/>
          <p:cNvSpPr txBox="1"/>
          <p:nvPr/>
        </p:nvSpPr>
        <p:spPr>
          <a:xfrm>
            <a:off x="9692640" y="2514600"/>
            <a:ext cx="2103120" cy="411480"/>
          </a:xfrm>
          <a:prstGeom prst="rect">
            <a:avLst/>
          </a:prstGeom>
          <a:noFill/>
          <a:ln/>
        </p:spPr>
        <p:txBody>
          <a:bodyPr wrap="square" lIns="0" tIns="0" rIns="0" bIns="0" rtlCol="0" anchor="ctr"/>
          <a:lstStyle/>
          <a:p>
            <a:pPr indent="0" marL="0">
              <a:buNone/>
            </a:pPr>
            <a:r>
              <a:rPr lang="en-US" sz="1700" b="1" dirty="0">
                <a:solidFill>
                  <a:srgbClr val="1B2433"/>
                </a:solidFill>
                <a:latin typeface="Calibri" pitchFamily="34" charset="0"/>
                <a:ea typeface="Calibri" pitchFamily="34" charset="-122"/>
                <a:cs typeface="Calibri" pitchFamily="34" charset="-120"/>
              </a:rPr>
              <a:t>Ride accepted</a:t>
            </a:r>
            <a:endParaRPr lang="en-US" sz="1700" dirty="0"/>
          </a:p>
        </p:txBody>
      </p:sp>
      <p:sp>
        <p:nvSpPr>
          <p:cNvPr id="27" name="Text 25"/>
          <p:cNvSpPr txBox="1"/>
          <p:nvPr/>
        </p:nvSpPr>
        <p:spPr>
          <a:xfrm>
            <a:off x="9692640" y="2926080"/>
            <a:ext cx="2011680" cy="100584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Live tracking to the drop-off, then a rating</a:t>
            </a:r>
            <a:endParaRPr lang="en-US" sz="1400" dirty="0"/>
          </a:p>
        </p:txBody>
      </p:sp>
      <p:sp>
        <p:nvSpPr>
          <p:cNvPr id="28" name="Shape 26"/>
          <p:cNvSpPr/>
          <p:nvPr/>
        </p:nvSpPr>
        <p:spPr>
          <a:xfrm>
            <a:off x="548640" y="4251960"/>
            <a:ext cx="3566160" cy="2057400"/>
          </a:xfrm>
          <a:prstGeom prst="roundRect">
            <a:avLst>
              <a:gd name="adj" fmla="val 5333"/>
            </a:avLst>
          </a:prstGeom>
          <a:solidFill>
            <a:srgbClr val="F2F4F8"/>
          </a:solidFill>
          <a:ln w="12700">
            <a:solidFill>
              <a:srgbClr val="F2F4F8"/>
            </a:solidFill>
            <a:prstDash val="solid"/>
          </a:ln>
        </p:spPr>
      </p:sp>
      <p:sp>
        <p:nvSpPr>
          <p:cNvPr id="29" name="Text 27"/>
          <p:cNvSpPr txBox="1"/>
          <p:nvPr/>
        </p:nvSpPr>
        <p:spPr>
          <a:xfrm>
            <a:off x="868680" y="4434840"/>
            <a:ext cx="2926080" cy="868680"/>
          </a:xfrm>
          <a:prstGeom prst="rect">
            <a:avLst/>
          </a:prstGeom>
          <a:noFill/>
          <a:ln/>
        </p:spPr>
        <p:txBody>
          <a:bodyPr wrap="square" lIns="0" tIns="0" rIns="0" bIns="0" rtlCol="0" anchor="ctr"/>
          <a:lstStyle/>
          <a:p>
            <a:pPr indent="0" marL="0">
              <a:buNone/>
            </a:pPr>
            <a:r>
              <a:rPr lang="en-US" sz="4400" b="1" dirty="0">
                <a:solidFill>
                  <a:srgbClr val="14213D"/>
                </a:solidFill>
                <a:latin typeface="Calibri" pitchFamily="34" charset="0"/>
                <a:ea typeface="Calibri" pitchFamily="34" charset="-122"/>
                <a:cs typeface="Calibri" pitchFamily="34" charset="-120"/>
              </a:rPr>
              <a:t>5 km</a:t>
            </a:r>
            <a:endParaRPr lang="en-US" sz="4400" dirty="0"/>
          </a:p>
        </p:txBody>
      </p:sp>
      <p:sp>
        <p:nvSpPr>
          <p:cNvPr id="30" name="Text 28"/>
          <p:cNvSpPr txBox="1"/>
          <p:nvPr/>
        </p:nvSpPr>
        <p:spPr>
          <a:xfrm>
            <a:off x="868680" y="5303520"/>
            <a:ext cx="2926080" cy="8686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Search radius, set by the chapter</a:t>
            </a:r>
            <a:endParaRPr lang="en-US" sz="1400" dirty="0"/>
          </a:p>
        </p:txBody>
      </p:sp>
      <p:sp>
        <p:nvSpPr>
          <p:cNvPr id="31" name="Shape 29"/>
          <p:cNvSpPr/>
          <p:nvPr/>
        </p:nvSpPr>
        <p:spPr>
          <a:xfrm>
            <a:off x="4334256" y="4251960"/>
            <a:ext cx="3566160" cy="2057400"/>
          </a:xfrm>
          <a:prstGeom prst="roundRect">
            <a:avLst>
              <a:gd name="adj" fmla="val 5333"/>
            </a:avLst>
          </a:prstGeom>
          <a:solidFill>
            <a:srgbClr val="F2F4F8"/>
          </a:solidFill>
          <a:ln w="12700">
            <a:solidFill>
              <a:srgbClr val="F2F4F8"/>
            </a:solidFill>
            <a:prstDash val="solid"/>
          </a:ln>
        </p:spPr>
      </p:sp>
      <p:sp>
        <p:nvSpPr>
          <p:cNvPr id="32" name="Text 30"/>
          <p:cNvSpPr txBox="1"/>
          <p:nvPr/>
        </p:nvSpPr>
        <p:spPr>
          <a:xfrm>
            <a:off x="4654296" y="4434840"/>
            <a:ext cx="2926080" cy="868680"/>
          </a:xfrm>
          <a:prstGeom prst="rect">
            <a:avLst/>
          </a:prstGeom>
          <a:noFill/>
          <a:ln/>
        </p:spPr>
        <p:txBody>
          <a:bodyPr wrap="square" lIns="0" tIns="0" rIns="0" bIns="0" rtlCol="0" anchor="ctr"/>
          <a:lstStyle/>
          <a:p>
            <a:pPr indent="0" marL="0">
              <a:buNone/>
            </a:pPr>
            <a:r>
              <a:rPr lang="en-US" sz="4400" b="1" dirty="0">
                <a:solidFill>
                  <a:srgbClr val="14213D"/>
                </a:solidFill>
                <a:latin typeface="Calibri" pitchFamily="34" charset="0"/>
                <a:ea typeface="Calibri" pitchFamily="34" charset="-122"/>
                <a:cs typeface="Calibri" pitchFamily="34" charset="-120"/>
              </a:rPr>
              <a:t>15 s</a:t>
            </a:r>
            <a:endParaRPr lang="en-US" sz="4400" dirty="0"/>
          </a:p>
        </p:txBody>
      </p:sp>
      <p:sp>
        <p:nvSpPr>
          <p:cNvPr id="33" name="Text 31"/>
          <p:cNvSpPr txBox="1"/>
          <p:nvPr/>
        </p:nvSpPr>
        <p:spPr>
          <a:xfrm>
            <a:off x="4654296" y="5303520"/>
            <a:ext cx="2926080" cy="8686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For each driver to answer an offer</a:t>
            </a:r>
            <a:endParaRPr lang="en-US" sz="1400" dirty="0"/>
          </a:p>
        </p:txBody>
      </p:sp>
      <p:sp>
        <p:nvSpPr>
          <p:cNvPr id="34" name="Shape 32"/>
          <p:cNvSpPr/>
          <p:nvPr/>
        </p:nvSpPr>
        <p:spPr>
          <a:xfrm>
            <a:off x="8119872" y="4251960"/>
            <a:ext cx="3566160" cy="2057400"/>
          </a:xfrm>
          <a:prstGeom prst="roundRect">
            <a:avLst>
              <a:gd name="adj" fmla="val 5333"/>
            </a:avLst>
          </a:prstGeom>
          <a:solidFill>
            <a:srgbClr val="F2F4F8"/>
          </a:solidFill>
          <a:ln w="12700">
            <a:solidFill>
              <a:srgbClr val="F2F4F8"/>
            </a:solidFill>
            <a:prstDash val="solid"/>
          </a:ln>
        </p:spPr>
      </p:sp>
      <p:sp>
        <p:nvSpPr>
          <p:cNvPr id="35" name="Text 33"/>
          <p:cNvSpPr txBox="1"/>
          <p:nvPr/>
        </p:nvSpPr>
        <p:spPr>
          <a:xfrm>
            <a:off x="8439912" y="4434840"/>
            <a:ext cx="2926080" cy="868680"/>
          </a:xfrm>
          <a:prstGeom prst="rect">
            <a:avLst/>
          </a:prstGeom>
          <a:noFill/>
          <a:ln/>
        </p:spPr>
        <p:txBody>
          <a:bodyPr wrap="square" lIns="0" tIns="0" rIns="0" bIns="0" rtlCol="0" anchor="ctr"/>
          <a:lstStyle/>
          <a:p>
            <a:pPr indent="0" marL="0">
              <a:buNone/>
            </a:pPr>
            <a:r>
              <a:rPr lang="en-US" sz="4400" b="1" dirty="0">
                <a:solidFill>
                  <a:srgbClr val="14213D"/>
                </a:solidFill>
                <a:latin typeface="Calibri" pitchFamily="34" charset="0"/>
                <a:ea typeface="Calibri" pitchFamily="34" charset="-122"/>
                <a:cs typeface="Calibri" pitchFamily="34" charset="-120"/>
              </a:rPr>
              <a:t>1 winner</a:t>
            </a:r>
            <a:endParaRPr lang="en-US" sz="4400" dirty="0"/>
          </a:p>
        </p:txBody>
      </p:sp>
      <p:sp>
        <p:nvSpPr>
          <p:cNvPr id="36" name="Text 34"/>
          <p:cNvSpPr txBox="1"/>
          <p:nvPr/>
        </p:nvSpPr>
        <p:spPr>
          <a:xfrm>
            <a:off x="8439912" y="5303520"/>
            <a:ext cx="2926080" cy="8686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If two drivers tap Accept at once, a database transaction lets exactly one claim the ride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4F8"/>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indent="0" marL="0">
              <a:buNone/>
            </a:pPr>
            <a:r>
              <a:rPr lang="en-US" sz="1200" b="1" spc="200" kern="0" dirty="0">
                <a:solidFill>
                  <a:srgbClr val="B7780A"/>
                </a:solidFill>
                <a:latin typeface="Calibri" pitchFamily="34" charset="0"/>
                <a:ea typeface="Calibri" pitchFamily="34" charset="-122"/>
                <a:cs typeface="Calibri" pitchFamily="34" charset="-120"/>
              </a:rPr>
              <a:t>PROTOTYPE</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1B2433"/>
                </a:solidFill>
                <a:latin typeface="Calibri" pitchFamily="34" charset="0"/>
                <a:ea typeface="Calibri" pitchFamily="34" charset="-122"/>
                <a:cs typeface="Calibri" pitchFamily="34" charset="-120"/>
              </a:rPr>
              <a:t>The commuter experience</a:t>
            </a:r>
            <a:endParaRPr lang="en-US" sz="3400" dirty="0"/>
          </a:p>
        </p:txBody>
      </p:sp>
      <p:sp>
        <p:nvSpPr>
          <p:cNvPr id="4" name="Shape 2"/>
          <p:cNvSpPr/>
          <p:nvPr/>
        </p:nvSpPr>
        <p:spPr>
          <a:xfrm>
            <a:off x="1151006" y="1517904"/>
            <a:ext cx="2087107" cy="4325112"/>
          </a:xfrm>
          <a:prstGeom prst="roundRect">
            <a:avLst>
              <a:gd name="adj" fmla="val 6134"/>
            </a:avLst>
          </a:prstGeom>
          <a:solidFill>
            <a:srgbClr val="FFFFFF"/>
          </a:solidFill>
          <a:ln w="12700">
            <a:solidFill>
              <a:srgbClr val="D3D9E2"/>
            </a:solidFill>
            <a:prstDash val="solid"/>
          </a:ln>
          <a:effectLst>
            <a:outerShdw sx="100000" sy="100000" kx="0" ky="0" algn="bl" rotWithShape="0" blurRad="101600" dist="25400" dir="5400000">
              <a:srgbClr val="000000">
                <a:alpha val="18000"/>
              </a:srgbClr>
            </a:outerShdw>
          </a:effectLst>
        </p:spPr>
      </p:sp>
      <p:pic>
        <p:nvPicPr>
          <p:cNvPr id="5" name="Image 0" descr="C:\Users\jeloooaceeew\Desktop\trikekoto-web\trikekoto_app\docs\manual\fig-2-sign-in.png">    </p:cNvPr>
          <p:cNvPicPr>
            <a:picLocks noChangeAspect="1"/>
          </p:cNvPicPr>
          <p:nvPr/>
        </p:nvPicPr>
        <p:blipFill>
          <a:blip r:embed="rId1"/>
          <a:stretch>
            <a:fillRect/>
          </a:stretch>
        </p:blipFill>
        <p:spPr>
          <a:xfrm>
            <a:off x="1233302" y="1600200"/>
            <a:ext cx="1922515" cy="4160520"/>
          </a:xfrm>
          <a:prstGeom prst="rect">
            <a:avLst/>
          </a:prstGeom>
        </p:spPr>
      </p:pic>
      <p:sp>
        <p:nvSpPr>
          <p:cNvPr id="6" name="Text 3"/>
          <p:cNvSpPr txBox="1"/>
          <p:nvPr/>
        </p:nvSpPr>
        <p:spPr>
          <a:xfrm>
            <a:off x="457200" y="5897880"/>
            <a:ext cx="3474720" cy="411480"/>
          </a:xfrm>
          <a:prstGeom prst="rect">
            <a:avLst/>
          </a:prstGeom>
          <a:noFill/>
          <a:ln/>
        </p:spPr>
        <p:txBody>
          <a:bodyPr wrap="square" lIns="0" tIns="0" rIns="0" bIns="0" rtlCol="0" anchor="ctr"/>
          <a:lstStyle/>
          <a:p>
            <a:pPr algn="ctr" indent="0" marL="0">
              <a:buNone/>
            </a:pPr>
            <a:r>
              <a:rPr lang="en-US" sz="1600" b="1" dirty="0">
                <a:solidFill>
                  <a:srgbClr val="1B2433"/>
                </a:solidFill>
                <a:latin typeface="Calibri" pitchFamily="34" charset="0"/>
                <a:ea typeface="Calibri" pitchFamily="34" charset="-122"/>
                <a:cs typeface="Calibri" pitchFamily="34" charset="-120"/>
              </a:rPr>
              <a:t>1. Sign in with a mobile number</a:t>
            </a:r>
            <a:endParaRPr lang="en-US" sz="1600" dirty="0"/>
          </a:p>
        </p:txBody>
      </p:sp>
      <p:sp>
        <p:nvSpPr>
          <p:cNvPr id="7" name="Shape 4"/>
          <p:cNvSpPr/>
          <p:nvPr/>
        </p:nvSpPr>
        <p:spPr>
          <a:xfrm>
            <a:off x="5055494" y="1517904"/>
            <a:ext cx="2087107" cy="4325112"/>
          </a:xfrm>
          <a:prstGeom prst="roundRect">
            <a:avLst>
              <a:gd name="adj" fmla="val 6134"/>
            </a:avLst>
          </a:prstGeom>
          <a:solidFill>
            <a:srgbClr val="FFFFFF"/>
          </a:solidFill>
          <a:ln w="12700">
            <a:solidFill>
              <a:srgbClr val="D3D9E2"/>
            </a:solidFill>
            <a:prstDash val="solid"/>
          </a:ln>
          <a:effectLst>
            <a:outerShdw sx="100000" sy="100000" kx="0" ky="0" algn="bl" rotWithShape="0" blurRad="101600" dist="25400" dir="5400000">
              <a:srgbClr val="000000">
                <a:alpha val="18000"/>
              </a:srgbClr>
            </a:outerShdw>
          </a:effectLst>
        </p:spPr>
      </p:sp>
      <p:pic>
        <p:nvPicPr>
          <p:cNvPr id="8" name="Image 1" descr="C:\Users\jeloooaceeew\Desktop\trikekoto-web\trikekoto_app\docs\manual\fig-3-booking.png">    </p:cNvPr>
          <p:cNvPicPr>
            <a:picLocks noChangeAspect="1"/>
          </p:cNvPicPr>
          <p:nvPr/>
        </p:nvPicPr>
        <p:blipFill>
          <a:blip r:embed="rId2"/>
          <a:stretch>
            <a:fillRect/>
          </a:stretch>
        </p:blipFill>
        <p:spPr>
          <a:xfrm>
            <a:off x="5137790" y="1600200"/>
            <a:ext cx="1922515" cy="4160520"/>
          </a:xfrm>
          <a:prstGeom prst="rect">
            <a:avLst/>
          </a:prstGeom>
        </p:spPr>
      </p:pic>
      <p:sp>
        <p:nvSpPr>
          <p:cNvPr id="9" name="Text 5"/>
          <p:cNvSpPr txBox="1"/>
          <p:nvPr/>
        </p:nvSpPr>
        <p:spPr>
          <a:xfrm>
            <a:off x="4361688" y="5897880"/>
            <a:ext cx="3474720" cy="411480"/>
          </a:xfrm>
          <a:prstGeom prst="rect">
            <a:avLst/>
          </a:prstGeom>
          <a:noFill/>
          <a:ln/>
        </p:spPr>
        <p:txBody>
          <a:bodyPr wrap="square" lIns="0" tIns="0" rIns="0" bIns="0" rtlCol="0" anchor="ctr"/>
          <a:lstStyle/>
          <a:p>
            <a:pPr algn="ctr" indent="0" marL="0">
              <a:buNone/>
            </a:pPr>
            <a:r>
              <a:rPr lang="en-US" sz="1600" b="1" dirty="0">
                <a:solidFill>
                  <a:srgbClr val="1B2433"/>
                </a:solidFill>
                <a:latin typeface="Calibri" pitchFamily="34" charset="0"/>
                <a:ea typeface="Calibri" pitchFamily="34" charset="-122"/>
                <a:cs typeface="Calibri" pitchFamily="34" charset="-120"/>
              </a:rPr>
              <a:t>2. Set pickup and drop-off</a:t>
            </a:r>
            <a:endParaRPr lang="en-US" sz="1600" dirty="0"/>
          </a:p>
        </p:txBody>
      </p:sp>
      <p:sp>
        <p:nvSpPr>
          <p:cNvPr id="10" name="Shape 6"/>
          <p:cNvSpPr/>
          <p:nvPr/>
        </p:nvSpPr>
        <p:spPr>
          <a:xfrm>
            <a:off x="8959982" y="1517904"/>
            <a:ext cx="2087107" cy="4325112"/>
          </a:xfrm>
          <a:prstGeom prst="roundRect">
            <a:avLst>
              <a:gd name="adj" fmla="val 6134"/>
            </a:avLst>
          </a:prstGeom>
          <a:solidFill>
            <a:srgbClr val="FFFFFF"/>
          </a:solidFill>
          <a:ln w="12700">
            <a:solidFill>
              <a:srgbClr val="D3D9E2"/>
            </a:solidFill>
            <a:prstDash val="solid"/>
          </a:ln>
          <a:effectLst>
            <a:outerShdw sx="100000" sy="100000" kx="0" ky="0" algn="bl" rotWithShape="0" blurRad="101600" dist="25400" dir="5400000">
              <a:srgbClr val="000000">
                <a:alpha val="18000"/>
              </a:srgbClr>
            </a:outerShdw>
          </a:effectLst>
        </p:spPr>
      </p:sp>
      <p:pic>
        <p:nvPicPr>
          <p:cNvPr id="11" name="Image 2" descr="C:\Users\jeloooaceeew\Desktop\trikekoto-web\trikekoto_app\docs\manual\fig-4-tracking.png">    </p:cNvPr>
          <p:cNvPicPr>
            <a:picLocks noChangeAspect="1"/>
          </p:cNvPicPr>
          <p:nvPr/>
        </p:nvPicPr>
        <p:blipFill>
          <a:blip r:embed="rId3"/>
          <a:stretch>
            <a:fillRect/>
          </a:stretch>
        </p:blipFill>
        <p:spPr>
          <a:xfrm>
            <a:off x="9042278" y="1600200"/>
            <a:ext cx="1922515" cy="4160520"/>
          </a:xfrm>
          <a:prstGeom prst="rect">
            <a:avLst/>
          </a:prstGeom>
        </p:spPr>
      </p:pic>
      <p:sp>
        <p:nvSpPr>
          <p:cNvPr id="12" name="Text 7"/>
          <p:cNvSpPr txBox="1"/>
          <p:nvPr/>
        </p:nvSpPr>
        <p:spPr>
          <a:xfrm>
            <a:off x="8266176" y="5897880"/>
            <a:ext cx="3474720" cy="411480"/>
          </a:xfrm>
          <a:prstGeom prst="rect">
            <a:avLst/>
          </a:prstGeom>
          <a:noFill/>
          <a:ln/>
        </p:spPr>
        <p:txBody>
          <a:bodyPr wrap="square" lIns="0" tIns="0" rIns="0" bIns="0" rtlCol="0" anchor="ctr"/>
          <a:lstStyle/>
          <a:p>
            <a:pPr algn="ctr" indent="0" marL="0">
              <a:buNone/>
            </a:pPr>
            <a:r>
              <a:rPr lang="en-US" sz="1600" b="1" dirty="0">
                <a:solidFill>
                  <a:srgbClr val="1B2433"/>
                </a:solidFill>
                <a:latin typeface="Calibri" pitchFamily="34" charset="0"/>
                <a:ea typeface="Calibri" pitchFamily="34" charset="-122"/>
                <a:cs typeface="Calibri" pitchFamily="34" charset="-120"/>
              </a:rPr>
              <a:t>3. Track the tricycle live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indent="0" marL="0">
              <a:buNone/>
            </a:pPr>
            <a:r>
              <a:rPr lang="en-US" sz="1200" b="1" spc="200" kern="0" dirty="0">
                <a:solidFill>
                  <a:srgbClr val="B7780A"/>
                </a:solidFill>
                <a:latin typeface="Calibri" pitchFamily="34" charset="0"/>
                <a:ea typeface="Calibri" pitchFamily="34" charset="-122"/>
                <a:cs typeface="Calibri" pitchFamily="34" charset="-120"/>
              </a:rPr>
              <a:t>PROTOTYPE</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1B2433"/>
                </a:solidFill>
                <a:latin typeface="Calibri" pitchFamily="34" charset="0"/>
                <a:ea typeface="Calibri" pitchFamily="34" charset="-122"/>
                <a:cs typeface="Calibri" pitchFamily="34" charset="-120"/>
              </a:rPr>
              <a:t>Tools for drivers and the chapter</a:t>
            </a:r>
            <a:endParaRPr lang="en-US" sz="3400" dirty="0"/>
          </a:p>
        </p:txBody>
      </p:sp>
      <p:sp>
        <p:nvSpPr>
          <p:cNvPr id="4" name="Shape 2"/>
          <p:cNvSpPr/>
          <p:nvPr/>
        </p:nvSpPr>
        <p:spPr>
          <a:xfrm>
            <a:off x="557784" y="1517904"/>
            <a:ext cx="2150487" cy="4462272"/>
          </a:xfrm>
          <a:prstGeom prst="roundRect">
            <a:avLst>
              <a:gd name="adj" fmla="val 5953"/>
            </a:avLst>
          </a:prstGeom>
          <a:solidFill>
            <a:srgbClr val="FFFFFF"/>
          </a:solidFill>
          <a:ln w="12700">
            <a:solidFill>
              <a:srgbClr val="D3D9E2"/>
            </a:solidFill>
            <a:prstDash val="solid"/>
          </a:ln>
          <a:effectLst>
            <a:outerShdw sx="100000" sy="100000" kx="0" ky="0" algn="bl" rotWithShape="0" blurRad="101600" dist="25400" dir="5400000">
              <a:srgbClr val="000000">
                <a:alpha val="18000"/>
              </a:srgbClr>
            </a:outerShdw>
          </a:effectLst>
        </p:spPr>
      </p:sp>
      <p:pic>
        <p:nvPicPr>
          <p:cNvPr id="5" name="Image 0" descr="C:\Users\jeloooaceeew\Desktop\trikekoto-web\trikekoto_app\docs\manual\fig-5-driver-online.png">    </p:cNvPr>
          <p:cNvPicPr>
            <a:picLocks noChangeAspect="1"/>
          </p:cNvPicPr>
          <p:nvPr/>
        </p:nvPicPr>
        <p:blipFill>
          <a:blip r:embed="rId1"/>
          <a:stretch>
            <a:fillRect/>
          </a:stretch>
        </p:blipFill>
        <p:spPr>
          <a:xfrm>
            <a:off x="640080" y="1600200"/>
            <a:ext cx="1985895" cy="4297680"/>
          </a:xfrm>
          <a:prstGeom prst="rect">
            <a:avLst/>
          </a:prstGeom>
        </p:spPr>
      </p:pic>
      <p:sp>
        <p:nvSpPr>
          <p:cNvPr id="6" name="Shape 3"/>
          <p:cNvSpPr/>
          <p:nvPr/>
        </p:nvSpPr>
        <p:spPr>
          <a:xfrm>
            <a:off x="2980944" y="1517904"/>
            <a:ext cx="2953512" cy="3597109"/>
          </a:xfrm>
          <a:prstGeom prst="roundRect">
            <a:avLst>
              <a:gd name="adj" fmla="val 4334"/>
            </a:avLst>
          </a:prstGeom>
          <a:solidFill>
            <a:srgbClr val="FFFFFF"/>
          </a:solidFill>
          <a:ln w="12700">
            <a:solidFill>
              <a:srgbClr val="D3D9E2"/>
            </a:solidFill>
            <a:prstDash val="solid"/>
          </a:ln>
          <a:effectLst>
            <a:outerShdw sx="100000" sy="100000" kx="0" ky="0" algn="bl" rotWithShape="0" blurRad="101600" dist="25400" dir="5400000">
              <a:srgbClr val="000000">
                <a:alpha val="18000"/>
              </a:srgbClr>
            </a:outerShdw>
          </a:effectLst>
        </p:spPr>
      </p:sp>
      <p:pic>
        <p:nvPicPr>
          <p:cNvPr id="7" name="Image 1" descr="C:\Users\jeloooaceeew\Desktop\trikekoto-web\trikekoto_app\docs\manual\fig-7-id-review.png">    </p:cNvPr>
          <p:cNvPicPr>
            <a:picLocks noChangeAspect="1"/>
          </p:cNvPicPr>
          <p:nvPr/>
        </p:nvPicPr>
        <p:blipFill>
          <a:blip r:embed="rId2"/>
          <a:stretch>
            <a:fillRect/>
          </a:stretch>
        </p:blipFill>
        <p:spPr>
          <a:xfrm>
            <a:off x="3063240" y="1600200"/>
            <a:ext cx="2788920" cy="3432517"/>
          </a:xfrm>
          <a:prstGeom prst="rect">
            <a:avLst/>
          </a:prstGeom>
        </p:spPr>
      </p:pic>
      <p:sp>
        <p:nvSpPr>
          <p:cNvPr id="8" name="Text 4"/>
          <p:cNvSpPr txBox="1"/>
          <p:nvPr/>
        </p:nvSpPr>
        <p:spPr>
          <a:xfrm>
            <a:off x="502920" y="5989320"/>
            <a:ext cx="2286000" cy="365760"/>
          </a:xfrm>
          <a:prstGeom prst="rect">
            <a:avLst/>
          </a:prstGeom>
          <a:noFill/>
          <a:ln/>
        </p:spPr>
        <p:txBody>
          <a:bodyPr wrap="square" lIns="0" tIns="0" rIns="0" bIns="0" rtlCol="0" anchor="ctr"/>
          <a:lstStyle/>
          <a:p>
            <a:pPr algn="ctr" indent="0" marL="0">
              <a:buNone/>
            </a:pPr>
            <a:r>
              <a:rPr lang="en-US" sz="1300" dirty="0">
                <a:solidFill>
                  <a:srgbClr val="5B6472"/>
                </a:solidFill>
                <a:latin typeface="Calibri" pitchFamily="34" charset="0"/>
                <a:ea typeface="Calibri" pitchFamily="34" charset="-122"/>
                <a:cs typeface="Calibri" pitchFamily="34" charset="-120"/>
              </a:rPr>
              <a:t>Driver screen</a:t>
            </a:r>
            <a:endParaRPr lang="en-US" sz="1300" dirty="0"/>
          </a:p>
        </p:txBody>
      </p:sp>
      <p:sp>
        <p:nvSpPr>
          <p:cNvPr id="9" name="Text 5"/>
          <p:cNvSpPr txBox="1"/>
          <p:nvPr/>
        </p:nvSpPr>
        <p:spPr>
          <a:xfrm>
            <a:off x="3063240" y="5215597"/>
            <a:ext cx="2788920" cy="365760"/>
          </a:xfrm>
          <a:prstGeom prst="rect">
            <a:avLst/>
          </a:prstGeom>
          <a:noFill/>
          <a:ln/>
        </p:spPr>
        <p:txBody>
          <a:bodyPr wrap="square" lIns="0" tIns="0" rIns="0" bIns="0" rtlCol="0" anchor="ctr"/>
          <a:lstStyle/>
          <a:p>
            <a:pPr algn="ctr" indent="0" marL="0">
              <a:buNone/>
            </a:pPr>
            <a:r>
              <a:rPr lang="en-US" sz="1300" dirty="0">
                <a:solidFill>
                  <a:srgbClr val="5B6472"/>
                </a:solidFill>
                <a:latin typeface="Calibri" pitchFamily="34" charset="0"/>
                <a:ea typeface="Calibri" pitchFamily="34" charset="-122"/>
                <a:cs typeface="Calibri" pitchFamily="34" charset="-120"/>
              </a:rPr>
              <a:t>ID review by an officer</a:t>
            </a:r>
            <a:endParaRPr lang="en-US" sz="1300" dirty="0"/>
          </a:p>
        </p:txBody>
      </p:sp>
      <p:sp>
        <p:nvSpPr>
          <p:cNvPr id="10" name="Shape 6"/>
          <p:cNvSpPr/>
          <p:nvPr/>
        </p:nvSpPr>
        <p:spPr>
          <a:xfrm>
            <a:off x="6263640" y="1645920"/>
            <a:ext cx="548640" cy="548640"/>
          </a:xfrm>
          <a:prstGeom prst="ellipse">
            <a:avLst/>
          </a:prstGeom>
          <a:solidFill>
            <a:srgbClr val="F5A524"/>
          </a:solidFill>
          <a:ln w="12700">
            <a:solidFill>
              <a:srgbClr val="F5A524"/>
            </a:solidFill>
            <a:prstDash val="solid"/>
          </a:ln>
        </p:spPr>
      </p:sp>
      <p:sp>
        <p:nvSpPr>
          <p:cNvPr id="11" name="Text 7"/>
          <p:cNvSpPr txBox="1"/>
          <p:nvPr/>
        </p:nvSpPr>
        <p:spPr>
          <a:xfrm>
            <a:off x="6263640" y="1645920"/>
            <a:ext cx="548640" cy="548640"/>
          </a:xfrm>
          <a:prstGeom prst="rect">
            <a:avLst/>
          </a:prstGeom>
          <a:noFill/>
          <a:ln/>
        </p:spPr>
        <p:txBody>
          <a:bodyPr wrap="square" lIns="0" tIns="0" rIns="0" bIns="0" rtlCol="0" anchor="ctr"/>
          <a:lstStyle/>
          <a:p>
            <a:pPr algn="ctr" indent="0" marL="0">
              <a:buNone/>
            </a:pPr>
            <a:r>
              <a:rPr lang="en-US" sz="1560" b="1" dirty="0">
                <a:solidFill>
                  <a:srgbClr val="14213D"/>
                </a:solidFill>
                <a:latin typeface="Calibri" pitchFamily="34" charset="0"/>
                <a:ea typeface="Calibri" pitchFamily="34" charset="-122"/>
                <a:cs typeface="Calibri" pitchFamily="34" charset="-120"/>
              </a:rPr>
              <a:t>A</a:t>
            </a:r>
            <a:endParaRPr lang="en-US" sz="1560" dirty="0"/>
          </a:p>
        </p:txBody>
      </p:sp>
      <p:sp>
        <p:nvSpPr>
          <p:cNvPr id="12" name="Text 8"/>
          <p:cNvSpPr txBox="1"/>
          <p:nvPr/>
        </p:nvSpPr>
        <p:spPr>
          <a:xfrm>
            <a:off x="7040880" y="1645920"/>
            <a:ext cx="4617720" cy="411480"/>
          </a:xfrm>
          <a:prstGeom prst="rect">
            <a:avLst/>
          </a:prstGeom>
          <a:noFill/>
          <a:ln/>
        </p:spPr>
        <p:txBody>
          <a:bodyPr wrap="square" lIns="0" tIns="0" rIns="0" bIns="0" rtlCol="0" anchor="ctr"/>
          <a:lstStyle/>
          <a:p>
            <a:pPr indent="0" marL="0">
              <a:buNone/>
            </a:pPr>
            <a:r>
              <a:rPr lang="en-US" sz="2000" b="1" dirty="0">
                <a:solidFill>
                  <a:srgbClr val="1B2433"/>
                </a:solidFill>
                <a:latin typeface="Calibri" pitchFamily="34" charset="0"/>
                <a:ea typeface="Calibri" pitchFamily="34" charset="-122"/>
                <a:cs typeface="Calibri" pitchFamily="34" charset="-120"/>
              </a:rPr>
              <a:t>Drivers</a:t>
            </a:r>
            <a:endParaRPr lang="en-US" sz="2000" dirty="0"/>
          </a:p>
        </p:txBody>
      </p:sp>
      <p:sp>
        <p:nvSpPr>
          <p:cNvPr id="13" name="Text 9"/>
          <p:cNvSpPr txBox="1"/>
          <p:nvPr/>
        </p:nvSpPr>
        <p:spPr>
          <a:xfrm>
            <a:off x="7040880" y="2057400"/>
            <a:ext cx="4617720" cy="1005840"/>
          </a:xfrm>
          <a:prstGeom prst="rect">
            <a:avLst/>
          </a:prstGeom>
          <a:noFill/>
          <a:ln/>
        </p:spPr>
        <p:txBody>
          <a:bodyPr wrap="square" lIns="0" tIns="0" rIns="0" bIns="0" rtlCol="0" anchor="t"/>
          <a:lstStyle/>
          <a:p>
            <a:pPr indent="0" marL="0">
              <a:buNone/>
            </a:pPr>
            <a:r>
              <a:rPr lang="en-US" sz="1500" dirty="0">
                <a:solidFill>
                  <a:srgbClr val="5B6472"/>
                </a:solidFill>
                <a:latin typeface="Calibri" pitchFamily="34" charset="0"/>
                <a:ea typeface="Calibri" pitchFamily="34" charset="-122"/>
                <a:cs typeface="Calibri" pitchFamily="34" charset="-120"/>
              </a:rPr>
              <a:t>Go online with one switch, get offers by notification, and run each trip: start, complete, call, navigate.</a:t>
            </a:r>
            <a:endParaRPr lang="en-US" sz="1500" dirty="0"/>
          </a:p>
        </p:txBody>
      </p:sp>
      <p:sp>
        <p:nvSpPr>
          <p:cNvPr id="14" name="Shape 10"/>
          <p:cNvSpPr/>
          <p:nvPr/>
        </p:nvSpPr>
        <p:spPr>
          <a:xfrm>
            <a:off x="6263640" y="3200400"/>
            <a:ext cx="548640" cy="548640"/>
          </a:xfrm>
          <a:prstGeom prst="ellipse">
            <a:avLst/>
          </a:prstGeom>
          <a:solidFill>
            <a:srgbClr val="F5A524"/>
          </a:solidFill>
          <a:ln w="12700">
            <a:solidFill>
              <a:srgbClr val="F5A524"/>
            </a:solidFill>
            <a:prstDash val="solid"/>
          </a:ln>
        </p:spPr>
      </p:sp>
      <p:sp>
        <p:nvSpPr>
          <p:cNvPr id="15" name="Text 11"/>
          <p:cNvSpPr txBox="1"/>
          <p:nvPr/>
        </p:nvSpPr>
        <p:spPr>
          <a:xfrm>
            <a:off x="6263640" y="3200400"/>
            <a:ext cx="548640" cy="548640"/>
          </a:xfrm>
          <a:prstGeom prst="rect">
            <a:avLst/>
          </a:prstGeom>
          <a:noFill/>
          <a:ln/>
        </p:spPr>
        <p:txBody>
          <a:bodyPr wrap="square" lIns="0" tIns="0" rIns="0" bIns="0" rtlCol="0" anchor="ctr"/>
          <a:lstStyle/>
          <a:p>
            <a:pPr algn="ctr" indent="0" marL="0">
              <a:buNone/>
            </a:pPr>
            <a:r>
              <a:rPr lang="en-US" sz="1560" b="1" dirty="0">
                <a:solidFill>
                  <a:srgbClr val="14213D"/>
                </a:solidFill>
                <a:latin typeface="Calibri" pitchFamily="34" charset="0"/>
                <a:ea typeface="Calibri" pitchFamily="34" charset="-122"/>
                <a:cs typeface="Calibri" pitchFamily="34" charset="-120"/>
              </a:rPr>
              <a:t>B</a:t>
            </a:r>
            <a:endParaRPr lang="en-US" sz="1560" dirty="0"/>
          </a:p>
        </p:txBody>
      </p:sp>
      <p:sp>
        <p:nvSpPr>
          <p:cNvPr id="16" name="Text 12"/>
          <p:cNvSpPr txBox="1"/>
          <p:nvPr/>
        </p:nvSpPr>
        <p:spPr>
          <a:xfrm>
            <a:off x="7040880" y="3200400"/>
            <a:ext cx="4617720" cy="411480"/>
          </a:xfrm>
          <a:prstGeom prst="rect">
            <a:avLst/>
          </a:prstGeom>
          <a:noFill/>
          <a:ln/>
        </p:spPr>
        <p:txBody>
          <a:bodyPr wrap="square" lIns="0" tIns="0" rIns="0" bIns="0" rtlCol="0" anchor="ctr"/>
          <a:lstStyle/>
          <a:p>
            <a:pPr indent="0" marL="0">
              <a:buNone/>
            </a:pPr>
            <a:r>
              <a:rPr lang="en-US" sz="2000" b="1" dirty="0">
                <a:solidFill>
                  <a:srgbClr val="1B2433"/>
                </a:solidFill>
                <a:latin typeface="Calibri" pitchFamily="34" charset="0"/>
                <a:ea typeface="Calibri" pitchFamily="34" charset="-122"/>
                <a:cs typeface="Calibri" pitchFamily="34" charset="-120"/>
              </a:rPr>
              <a:t>Chapter officers</a:t>
            </a:r>
            <a:endParaRPr lang="en-US" sz="2000" dirty="0"/>
          </a:p>
        </p:txBody>
      </p:sp>
      <p:sp>
        <p:nvSpPr>
          <p:cNvPr id="17" name="Text 13"/>
          <p:cNvSpPr txBox="1"/>
          <p:nvPr/>
        </p:nvSpPr>
        <p:spPr>
          <a:xfrm>
            <a:off x="7040880" y="3611880"/>
            <a:ext cx="4617720" cy="1005840"/>
          </a:xfrm>
          <a:prstGeom prst="rect">
            <a:avLst/>
          </a:prstGeom>
          <a:noFill/>
          <a:ln/>
        </p:spPr>
        <p:txBody>
          <a:bodyPr wrap="square" lIns="0" tIns="0" rIns="0" bIns="0" rtlCol="0" anchor="t"/>
          <a:lstStyle/>
          <a:p>
            <a:pPr indent="0" marL="0">
              <a:buNone/>
            </a:pPr>
            <a:r>
              <a:rPr lang="en-US" sz="1500" dirty="0">
                <a:solidFill>
                  <a:srgbClr val="5B6472"/>
                </a:solidFill>
                <a:latin typeface="Calibri" pitchFamily="34" charset="0"/>
                <a:ea typeface="Calibri" pitchFamily="34" charset="-122"/>
                <a:cs typeface="Calibri" pitchFamily="34" charset="-120"/>
              </a:rPr>
              <a:t>Approve or suspend drivers, review IDs — the photo must be opened before Approve works — and see daily ride figures.</a:t>
            </a:r>
            <a:endParaRPr lang="en-US" sz="1500" dirty="0"/>
          </a:p>
        </p:txBody>
      </p:sp>
      <p:sp>
        <p:nvSpPr>
          <p:cNvPr id="18" name="Shape 14"/>
          <p:cNvSpPr/>
          <p:nvPr/>
        </p:nvSpPr>
        <p:spPr>
          <a:xfrm>
            <a:off x="6263640" y="4754880"/>
            <a:ext cx="548640" cy="548640"/>
          </a:xfrm>
          <a:prstGeom prst="ellipse">
            <a:avLst/>
          </a:prstGeom>
          <a:solidFill>
            <a:srgbClr val="F5A524"/>
          </a:solidFill>
          <a:ln w="12700">
            <a:solidFill>
              <a:srgbClr val="F5A524"/>
            </a:solidFill>
            <a:prstDash val="solid"/>
          </a:ln>
        </p:spPr>
      </p:sp>
      <p:sp>
        <p:nvSpPr>
          <p:cNvPr id="19" name="Text 15"/>
          <p:cNvSpPr txBox="1"/>
          <p:nvPr/>
        </p:nvSpPr>
        <p:spPr>
          <a:xfrm>
            <a:off x="6263640" y="4754880"/>
            <a:ext cx="548640" cy="548640"/>
          </a:xfrm>
          <a:prstGeom prst="rect">
            <a:avLst/>
          </a:prstGeom>
          <a:noFill/>
          <a:ln/>
        </p:spPr>
        <p:txBody>
          <a:bodyPr wrap="square" lIns="0" tIns="0" rIns="0" bIns="0" rtlCol="0" anchor="ctr"/>
          <a:lstStyle/>
          <a:p>
            <a:pPr algn="ctr" indent="0" marL="0">
              <a:buNone/>
            </a:pPr>
            <a:r>
              <a:rPr lang="en-US" sz="1560" b="1" dirty="0">
                <a:solidFill>
                  <a:srgbClr val="14213D"/>
                </a:solidFill>
                <a:latin typeface="Calibri" pitchFamily="34" charset="0"/>
                <a:ea typeface="Calibri" pitchFamily="34" charset="-122"/>
                <a:cs typeface="Calibri" pitchFamily="34" charset="-120"/>
              </a:rPr>
              <a:t>C</a:t>
            </a:r>
            <a:endParaRPr lang="en-US" sz="1560" dirty="0"/>
          </a:p>
        </p:txBody>
      </p:sp>
      <p:sp>
        <p:nvSpPr>
          <p:cNvPr id="20" name="Text 16"/>
          <p:cNvSpPr txBox="1"/>
          <p:nvPr/>
        </p:nvSpPr>
        <p:spPr>
          <a:xfrm>
            <a:off x="7040880" y="4754880"/>
            <a:ext cx="4617720" cy="411480"/>
          </a:xfrm>
          <a:prstGeom prst="rect">
            <a:avLst/>
          </a:prstGeom>
          <a:noFill/>
          <a:ln/>
        </p:spPr>
        <p:txBody>
          <a:bodyPr wrap="square" lIns="0" tIns="0" rIns="0" bIns="0" rtlCol="0" anchor="ctr"/>
          <a:lstStyle/>
          <a:p>
            <a:pPr indent="0" marL="0">
              <a:buNone/>
            </a:pPr>
            <a:r>
              <a:rPr lang="en-US" sz="2000" b="1" dirty="0">
                <a:solidFill>
                  <a:srgbClr val="1B2433"/>
                </a:solidFill>
                <a:latin typeface="Calibri" pitchFamily="34" charset="0"/>
                <a:ea typeface="Calibri" pitchFamily="34" charset="-122"/>
                <a:cs typeface="Calibri" pitchFamily="34" charset="-120"/>
              </a:rPr>
              <a:t>Stop switch</a:t>
            </a:r>
            <a:endParaRPr lang="en-US" sz="2000" dirty="0"/>
          </a:p>
        </p:txBody>
      </p:sp>
      <p:sp>
        <p:nvSpPr>
          <p:cNvPr id="21" name="Text 17"/>
          <p:cNvSpPr txBox="1"/>
          <p:nvPr/>
        </p:nvSpPr>
        <p:spPr>
          <a:xfrm>
            <a:off x="7040880" y="5166360"/>
            <a:ext cx="4617720" cy="1005840"/>
          </a:xfrm>
          <a:prstGeom prst="rect">
            <a:avLst/>
          </a:prstGeom>
          <a:noFill/>
          <a:ln/>
        </p:spPr>
        <p:txBody>
          <a:bodyPr wrap="square" lIns="0" tIns="0" rIns="0" bIns="0" rtlCol="0" anchor="t"/>
          <a:lstStyle/>
          <a:p>
            <a:pPr indent="0" marL="0">
              <a:buNone/>
            </a:pPr>
            <a:r>
              <a:rPr lang="en-US" sz="1500" dirty="0">
                <a:solidFill>
                  <a:srgbClr val="5B6472"/>
                </a:solidFill>
                <a:latin typeface="Calibri" pitchFamily="34" charset="0"/>
                <a:ea typeface="Calibri" pitchFamily="34" charset="-122"/>
                <a:cs typeface="Calibri" pitchFamily="34" charset="-120"/>
              </a:rPr>
              <a:t>One switch halts new bookings on every phone within seconds, with no app update. Rides in progress still finish.</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indent="0" marL="0">
              <a:buNone/>
            </a:pPr>
            <a:r>
              <a:rPr lang="en-US" sz="1200" b="1" spc="200" kern="0" dirty="0">
                <a:solidFill>
                  <a:srgbClr val="B7780A"/>
                </a:solidFill>
                <a:latin typeface="Calibri" pitchFamily="34" charset="0"/>
                <a:ea typeface="Calibri" pitchFamily="34" charset="-122"/>
                <a:cs typeface="Calibri" pitchFamily="34" charset="-120"/>
              </a:rPr>
              <a:t>SECURITY AND DATA PRIVACY</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1B2433"/>
                </a:solidFill>
                <a:latin typeface="Calibri" pitchFamily="34" charset="0"/>
                <a:ea typeface="Calibri" pitchFamily="34" charset="-122"/>
                <a:cs typeface="Calibri" pitchFamily="34" charset="-120"/>
              </a:rPr>
              <a:t>Designed for RA 10173 from the start</a:t>
            </a:r>
            <a:endParaRPr lang="en-US" sz="3400" dirty="0"/>
          </a:p>
        </p:txBody>
      </p:sp>
      <p:sp>
        <p:nvSpPr>
          <p:cNvPr id="4" name="Shape 2"/>
          <p:cNvSpPr/>
          <p:nvPr/>
        </p:nvSpPr>
        <p:spPr>
          <a:xfrm>
            <a:off x="548640" y="1645920"/>
            <a:ext cx="4206240" cy="1417320"/>
          </a:xfrm>
          <a:prstGeom prst="roundRect">
            <a:avLst>
              <a:gd name="adj" fmla="val 7742"/>
            </a:avLst>
          </a:prstGeom>
          <a:solidFill>
            <a:srgbClr val="14213D"/>
          </a:solidFill>
          <a:ln w="12700">
            <a:solidFill>
              <a:srgbClr val="14213D"/>
            </a:solidFill>
            <a:prstDash val="solid"/>
          </a:ln>
        </p:spPr>
      </p:sp>
      <p:sp>
        <p:nvSpPr>
          <p:cNvPr id="5" name="Text 3"/>
          <p:cNvSpPr txBox="1"/>
          <p:nvPr/>
        </p:nvSpPr>
        <p:spPr>
          <a:xfrm>
            <a:off x="822960" y="1755648"/>
            <a:ext cx="3657600" cy="731520"/>
          </a:xfrm>
          <a:prstGeom prst="rect">
            <a:avLst/>
          </a:prstGeom>
          <a:noFill/>
          <a:ln/>
        </p:spPr>
        <p:txBody>
          <a:bodyPr wrap="square" lIns="0" tIns="0" rIns="0" bIns="0" rtlCol="0" anchor="ctr"/>
          <a:lstStyle/>
          <a:p>
            <a:pPr indent="0" marL="0">
              <a:buNone/>
            </a:pPr>
            <a:r>
              <a:rPr lang="en-US" sz="4000" b="1" dirty="0">
                <a:solidFill>
                  <a:srgbClr val="F5A524"/>
                </a:solidFill>
                <a:latin typeface="Calibri" pitchFamily="34" charset="0"/>
                <a:ea typeface="Calibri" pitchFamily="34" charset="-122"/>
                <a:cs typeface="Calibri" pitchFamily="34" charset="-120"/>
              </a:rPr>
              <a:t>216</a:t>
            </a:r>
            <a:endParaRPr lang="en-US" sz="4000" dirty="0"/>
          </a:p>
        </p:txBody>
      </p:sp>
      <p:sp>
        <p:nvSpPr>
          <p:cNvPr id="6" name="Text 4"/>
          <p:cNvSpPr txBox="1"/>
          <p:nvPr/>
        </p:nvSpPr>
        <p:spPr>
          <a:xfrm>
            <a:off x="822960" y="2468880"/>
            <a:ext cx="36576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automated security-rule tests, including attack scenarios</a:t>
            </a:r>
            <a:endParaRPr lang="en-US" sz="1400" dirty="0"/>
          </a:p>
        </p:txBody>
      </p:sp>
      <p:sp>
        <p:nvSpPr>
          <p:cNvPr id="7" name="Shape 5"/>
          <p:cNvSpPr/>
          <p:nvPr/>
        </p:nvSpPr>
        <p:spPr>
          <a:xfrm>
            <a:off x="548640" y="3218688"/>
            <a:ext cx="4206240" cy="1417320"/>
          </a:xfrm>
          <a:prstGeom prst="roundRect">
            <a:avLst>
              <a:gd name="adj" fmla="val 7742"/>
            </a:avLst>
          </a:prstGeom>
          <a:solidFill>
            <a:srgbClr val="14213D"/>
          </a:solidFill>
          <a:ln w="12700">
            <a:solidFill>
              <a:srgbClr val="14213D"/>
            </a:solidFill>
            <a:prstDash val="solid"/>
          </a:ln>
        </p:spPr>
      </p:sp>
      <p:sp>
        <p:nvSpPr>
          <p:cNvPr id="8" name="Text 6"/>
          <p:cNvSpPr txBox="1"/>
          <p:nvPr/>
        </p:nvSpPr>
        <p:spPr>
          <a:xfrm>
            <a:off x="822960" y="3328416"/>
            <a:ext cx="3657600" cy="731520"/>
          </a:xfrm>
          <a:prstGeom prst="rect">
            <a:avLst/>
          </a:prstGeom>
          <a:noFill/>
          <a:ln/>
        </p:spPr>
        <p:txBody>
          <a:bodyPr wrap="square" lIns="0" tIns="0" rIns="0" bIns="0" rtlCol="0" anchor="ctr"/>
          <a:lstStyle/>
          <a:p>
            <a:pPr indent="0" marL="0">
              <a:buNone/>
            </a:pPr>
            <a:r>
              <a:rPr lang="en-US" sz="4000" b="1" dirty="0">
                <a:solidFill>
                  <a:srgbClr val="F5A524"/>
                </a:solidFill>
                <a:latin typeface="Calibri" pitchFamily="34" charset="0"/>
                <a:ea typeface="Calibri" pitchFamily="34" charset="-122"/>
                <a:cs typeface="Calibri" pitchFamily="34" charset="-120"/>
              </a:rPr>
              <a:t>90 days</a:t>
            </a:r>
            <a:endParaRPr lang="en-US" sz="4000" dirty="0"/>
          </a:p>
        </p:txBody>
      </p:sp>
      <p:sp>
        <p:nvSpPr>
          <p:cNvPr id="9" name="Text 7"/>
          <p:cNvSpPr txBox="1"/>
          <p:nvPr/>
        </p:nvSpPr>
        <p:spPr>
          <a:xfrm>
            <a:off x="822960" y="4041648"/>
            <a:ext cx="36576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after sending, ID photos and numbers are deleted automatically</a:t>
            </a:r>
            <a:endParaRPr lang="en-US" sz="1400" dirty="0"/>
          </a:p>
        </p:txBody>
      </p:sp>
      <p:sp>
        <p:nvSpPr>
          <p:cNvPr id="10" name="Shape 8"/>
          <p:cNvSpPr/>
          <p:nvPr/>
        </p:nvSpPr>
        <p:spPr>
          <a:xfrm>
            <a:off x="548640" y="4791456"/>
            <a:ext cx="4206240" cy="1417320"/>
          </a:xfrm>
          <a:prstGeom prst="roundRect">
            <a:avLst>
              <a:gd name="adj" fmla="val 7742"/>
            </a:avLst>
          </a:prstGeom>
          <a:solidFill>
            <a:srgbClr val="14213D"/>
          </a:solidFill>
          <a:ln w="12700">
            <a:solidFill>
              <a:srgbClr val="14213D"/>
            </a:solidFill>
            <a:prstDash val="solid"/>
          </a:ln>
        </p:spPr>
      </p:sp>
      <p:sp>
        <p:nvSpPr>
          <p:cNvPr id="11" name="Text 9"/>
          <p:cNvSpPr txBox="1"/>
          <p:nvPr/>
        </p:nvSpPr>
        <p:spPr>
          <a:xfrm>
            <a:off x="822960" y="4901184"/>
            <a:ext cx="3657600" cy="731520"/>
          </a:xfrm>
          <a:prstGeom prst="rect">
            <a:avLst/>
          </a:prstGeom>
          <a:noFill/>
          <a:ln/>
        </p:spPr>
        <p:txBody>
          <a:bodyPr wrap="square" lIns="0" tIns="0" rIns="0" bIns="0" rtlCol="0" anchor="ctr"/>
          <a:lstStyle/>
          <a:p>
            <a:pPr indent="0" marL="0">
              <a:buNone/>
            </a:pPr>
            <a:r>
              <a:rPr lang="en-US" sz="4000" b="1" dirty="0">
                <a:solidFill>
                  <a:srgbClr val="F5A524"/>
                </a:solidFill>
                <a:latin typeface="Calibri" pitchFamily="34" charset="0"/>
                <a:ea typeface="Calibri" pitchFamily="34" charset="-122"/>
                <a:cs typeface="Calibri" pitchFamily="34" charset="-120"/>
              </a:rPr>
              <a:t>0</a:t>
            </a:r>
            <a:endParaRPr lang="en-US" sz="4000" dirty="0"/>
          </a:p>
        </p:txBody>
      </p:sp>
      <p:sp>
        <p:nvSpPr>
          <p:cNvPr id="12" name="Text 10"/>
          <p:cNvSpPr txBox="1"/>
          <p:nvPr/>
        </p:nvSpPr>
        <p:spPr>
          <a:xfrm>
            <a:off x="822960" y="5614416"/>
            <a:ext cx="3657600" cy="5029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open findings after the September 2026 security review</a:t>
            </a:r>
            <a:endParaRPr lang="en-US" sz="1400" dirty="0"/>
          </a:p>
        </p:txBody>
      </p:sp>
      <p:sp>
        <p:nvSpPr>
          <p:cNvPr id="13" name="Shape 11"/>
          <p:cNvSpPr/>
          <p:nvPr/>
        </p:nvSpPr>
        <p:spPr>
          <a:xfrm>
            <a:off x="5212080" y="1691640"/>
            <a:ext cx="502920" cy="502920"/>
          </a:xfrm>
          <a:prstGeom prst="ellipse">
            <a:avLst/>
          </a:prstGeom>
          <a:solidFill>
            <a:srgbClr val="F5A524"/>
          </a:solidFill>
          <a:ln w="12700">
            <a:solidFill>
              <a:srgbClr val="F5A524"/>
            </a:solidFill>
            <a:prstDash val="solid"/>
          </a:ln>
        </p:spPr>
      </p:sp>
      <p:sp>
        <p:nvSpPr>
          <p:cNvPr id="14" name="Text 12"/>
          <p:cNvSpPr txBox="1"/>
          <p:nvPr/>
        </p:nvSpPr>
        <p:spPr>
          <a:xfrm>
            <a:off x="5212080" y="1691640"/>
            <a:ext cx="502920" cy="502920"/>
          </a:xfrm>
          <a:prstGeom prst="rect">
            <a:avLst/>
          </a:prstGeom>
          <a:noFill/>
          <a:ln/>
        </p:spPr>
        <p:txBody>
          <a:bodyPr wrap="square" lIns="0" tIns="0" rIns="0" bIns="0" rtlCol="0" anchor="ctr"/>
          <a:lstStyle/>
          <a:p>
            <a:pPr algn="ctr" indent="0" marL="0">
              <a:buNone/>
            </a:pPr>
            <a:r>
              <a:rPr lang="en-US" sz="1430" b="1" dirty="0">
                <a:solidFill>
                  <a:srgbClr val="14213D"/>
                </a:solidFill>
                <a:latin typeface="Calibri" pitchFamily="34" charset="0"/>
                <a:ea typeface="Calibri" pitchFamily="34" charset="-122"/>
                <a:cs typeface="Calibri" pitchFamily="34" charset="-120"/>
              </a:rPr>
              <a:t>1</a:t>
            </a:r>
            <a:endParaRPr lang="en-US" sz="1430" dirty="0"/>
          </a:p>
        </p:txBody>
      </p:sp>
      <p:sp>
        <p:nvSpPr>
          <p:cNvPr id="15" name="Text 13"/>
          <p:cNvSpPr txBox="1"/>
          <p:nvPr/>
        </p:nvSpPr>
        <p:spPr>
          <a:xfrm>
            <a:off x="5943600" y="1645920"/>
            <a:ext cx="5715000" cy="384048"/>
          </a:xfrm>
          <a:prstGeom prst="rect">
            <a:avLst/>
          </a:prstGeom>
          <a:noFill/>
          <a:ln/>
        </p:spPr>
        <p:txBody>
          <a:bodyPr wrap="square" lIns="0" tIns="0" rIns="0" bIns="0" rtlCol="0" anchor="ctr"/>
          <a:lstStyle/>
          <a:p>
            <a:pPr indent="0" marL="0">
              <a:buNone/>
            </a:pPr>
            <a:r>
              <a:rPr lang="en-US" sz="1800" b="1" dirty="0">
                <a:solidFill>
                  <a:srgbClr val="1B2433"/>
                </a:solidFill>
                <a:latin typeface="Calibri" pitchFamily="34" charset="0"/>
                <a:ea typeface="Calibri" pitchFamily="34" charset="-122"/>
                <a:cs typeface="Calibri" pitchFamily="34" charset="-120"/>
              </a:rPr>
              <a:t>Chapter-only access</a:t>
            </a:r>
            <a:endParaRPr lang="en-US" sz="1800" dirty="0"/>
          </a:p>
        </p:txBody>
      </p:sp>
      <p:sp>
        <p:nvSpPr>
          <p:cNvPr id="16" name="Text 14"/>
          <p:cNvSpPr txBox="1"/>
          <p:nvPr/>
        </p:nvSpPr>
        <p:spPr>
          <a:xfrm>
            <a:off x="5943600" y="2029968"/>
            <a:ext cx="5715000" cy="6400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Only TODA officers can see a submitted ID. Other passengers and drivers never can.</a:t>
            </a:r>
            <a:endParaRPr lang="en-US" sz="1400" dirty="0"/>
          </a:p>
        </p:txBody>
      </p:sp>
      <p:sp>
        <p:nvSpPr>
          <p:cNvPr id="17" name="Shape 15"/>
          <p:cNvSpPr/>
          <p:nvPr/>
        </p:nvSpPr>
        <p:spPr>
          <a:xfrm>
            <a:off x="5212080" y="2770632"/>
            <a:ext cx="502920" cy="502920"/>
          </a:xfrm>
          <a:prstGeom prst="ellipse">
            <a:avLst/>
          </a:prstGeom>
          <a:solidFill>
            <a:srgbClr val="F5A524"/>
          </a:solidFill>
          <a:ln w="12700">
            <a:solidFill>
              <a:srgbClr val="F5A524"/>
            </a:solidFill>
            <a:prstDash val="solid"/>
          </a:ln>
        </p:spPr>
      </p:sp>
      <p:sp>
        <p:nvSpPr>
          <p:cNvPr id="18" name="Text 16"/>
          <p:cNvSpPr txBox="1"/>
          <p:nvPr/>
        </p:nvSpPr>
        <p:spPr>
          <a:xfrm>
            <a:off x="5212080" y="2770632"/>
            <a:ext cx="502920" cy="502920"/>
          </a:xfrm>
          <a:prstGeom prst="rect">
            <a:avLst/>
          </a:prstGeom>
          <a:noFill/>
          <a:ln/>
        </p:spPr>
        <p:txBody>
          <a:bodyPr wrap="square" lIns="0" tIns="0" rIns="0" bIns="0" rtlCol="0" anchor="ctr"/>
          <a:lstStyle/>
          <a:p>
            <a:pPr algn="ctr" indent="0" marL="0">
              <a:buNone/>
            </a:pPr>
            <a:r>
              <a:rPr lang="en-US" sz="1430" b="1" dirty="0">
                <a:solidFill>
                  <a:srgbClr val="14213D"/>
                </a:solidFill>
                <a:latin typeface="Calibri" pitchFamily="34" charset="0"/>
                <a:ea typeface="Calibri" pitchFamily="34" charset="-122"/>
                <a:cs typeface="Calibri" pitchFamily="34" charset="-120"/>
              </a:rPr>
              <a:t>2</a:t>
            </a:r>
            <a:endParaRPr lang="en-US" sz="1430" dirty="0"/>
          </a:p>
        </p:txBody>
      </p:sp>
      <p:sp>
        <p:nvSpPr>
          <p:cNvPr id="19" name="Text 17"/>
          <p:cNvSpPr txBox="1"/>
          <p:nvPr/>
        </p:nvSpPr>
        <p:spPr>
          <a:xfrm>
            <a:off x="5943600" y="2724912"/>
            <a:ext cx="5715000" cy="384048"/>
          </a:xfrm>
          <a:prstGeom prst="rect">
            <a:avLst/>
          </a:prstGeom>
          <a:noFill/>
          <a:ln/>
        </p:spPr>
        <p:txBody>
          <a:bodyPr wrap="square" lIns="0" tIns="0" rIns="0" bIns="0" rtlCol="0" anchor="ctr"/>
          <a:lstStyle/>
          <a:p>
            <a:pPr indent="0" marL="0">
              <a:buNone/>
            </a:pPr>
            <a:r>
              <a:rPr lang="en-US" sz="1800" b="1" dirty="0">
                <a:solidFill>
                  <a:srgbClr val="1B2433"/>
                </a:solidFill>
                <a:latin typeface="Calibri" pitchFamily="34" charset="0"/>
                <a:ea typeface="Calibri" pitchFamily="34" charset="-122"/>
                <a:cs typeface="Calibri" pitchFamily="34" charset="-120"/>
              </a:rPr>
              <a:t>Consent on record</a:t>
            </a:r>
            <a:endParaRPr lang="en-US" sz="1800" dirty="0"/>
          </a:p>
        </p:txBody>
      </p:sp>
      <p:sp>
        <p:nvSpPr>
          <p:cNvPr id="20" name="Text 18"/>
          <p:cNvSpPr txBox="1"/>
          <p:nvPr/>
        </p:nvSpPr>
        <p:spPr>
          <a:xfrm>
            <a:off x="5943600" y="3108960"/>
            <a:ext cx="5715000" cy="6400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Users read how their ID is used and tick consent; the time is stored with it.</a:t>
            </a:r>
            <a:endParaRPr lang="en-US" sz="1400" dirty="0"/>
          </a:p>
        </p:txBody>
      </p:sp>
      <p:sp>
        <p:nvSpPr>
          <p:cNvPr id="21" name="Shape 19"/>
          <p:cNvSpPr/>
          <p:nvPr/>
        </p:nvSpPr>
        <p:spPr>
          <a:xfrm>
            <a:off x="5212080" y="3849624"/>
            <a:ext cx="502920" cy="502920"/>
          </a:xfrm>
          <a:prstGeom prst="ellipse">
            <a:avLst/>
          </a:prstGeom>
          <a:solidFill>
            <a:srgbClr val="F5A524"/>
          </a:solidFill>
          <a:ln w="12700">
            <a:solidFill>
              <a:srgbClr val="F5A524"/>
            </a:solidFill>
            <a:prstDash val="solid"/>
          </a:ln>
        </p:spPr>
      </p:sp>
      <p:sp>
        <p:nvSpPr>
          <p:cNvPr id="22" name="Text 20"/>
          <p:cNvSpPr txBox="1"/>
          <p:nvPr/>
        </p:nvSpPr>
        <p:spPr>
          <a:xfrm>
            <a:off x="5212080" y="3849624"/>
            <a:ext cx="502920" cy="502920"/>
          </a:xfrm>
          <a:prstGeom prst="rect">
            <a:avLst/>
          </a:prstGeom>
          <a:noFill/>
          <a:ln/>
        </p:spPr>
        <p:txBody>
          <a:bodyPr wrap="square" lIns="0" tIns="0" rIns="0" bIns="0" rtlCol="0" anchor="ctr"/>
          <a:lstStyle/>
          <a:p>
            <a:pPr algn="ctr" indent="0" marL="0">
              <a:buNone/>
            </a:pPr>
            <a:r>
              <a:rPr lang="en-US" sz="1430" b="1" dirty="0">
                <a:solidFill>
                  <a:srgbClr val="14213D"/>
                </a:solidFill>
                <a:latin typeface="Calibri" pitchFamily="34" charset="0"/>
                <a:ea typeface="Calibri" pitchFamily="34" charset="-122"/>
                <a:cs typeface="Calibri" pitchFamily="34" charset="-120"/>
              </a:rPr>
              <a:t>3</a:t>
            </a:r>
            <a:endParaRPr lang="en-US" sz="1430" dirty="0"/>
          </a:p>
        </p:txBody>
      </p:sp>
      <p:sp>
        <p:nvSpPr>
          <p:cNvPr id="23" name="Text 21"/>
          <p:cNvSpPr txBox="1"/>
          <p:nvPr/>
        </p:nvSpPr>
        <p:spPr>
          <a:xfrm>
            <a:off x="5943600" y="3803904"/>
            <a:ext cx="5715000" cy="384048"/>
          </a:xfrm>
          <a:prstGeom prst="rect">
            <a:avLst/>
          </a:prstGeom>
          <a:noFill/>
          <a:ln/>
        </p:spPr>
        <p:txBody>
          <a:bodyPr wrap="square" lIns="0" tIns="0" rIns="0" bIns="0" rtlCol="0" anchor="ctr"/>
          <a:lstStyle/>
          <a:p>
            <a:pPr indent="0" marL="0">
              <a:buNone/>
            </a:pPr>
            <a:r>
              <a:rPr lang="en-US" sz="1800" b="1" dirty="0">
                <a:solidFill>
                  <a:srgbClr val="1B2433"/>
                </a:solidFill>
                <a:latin typeface="Calibri" pitchFamily="34" charset="0"/>
                <a:ea typeface="Calibri" pitchFamily="34" charset="-122"/>
                <a:cs typeface="Calibri" pitchFamily="34" charset="-120"/>
              </a:rPr>
              <a:t>Right to withdraw</a:t>
            </a:r>
            <a:endParaRPr lang="en-US" sz="1800" dirty="0"/>
          </a:p>
        </p:txBody>
      </p:sp>
      <p:sp>
        <p:nvSpPr>
          <p:cNvPr id="24" name="Text 22"/>
          <p:cNvSpPr txBox="1"/>
          <p:nvPr/>
        </p:nvSpPr>
        <p:spPr>
          <a:xfrm>
            <a:off x="5943600" y="4187952"/>
            <a:ext cx="5715000" cy="6400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Commuters can delete their ID and their account from inside the app.</a:t>
            </a:r>
            <a:endParaRPr lang="en-US" sz="1400" dirty="0"/>
          </a:p>
        </p:txBody>
      </p:sp>
      <p:sp>
        <p:nvSpPr>
          <p:cNvPr id="25" name="Shape 23"/>
          <p:cNvSpPr/>
          <p:nvPr/>
        </p:nvSpPr>
        <p:spPr>
          <a:xfrm>
            <a:off x="5212080" y="4928616"/>
            <a:ext cx="502920" cy="502920"/>
          </a:xfrm>
          <a:prstGeom prst="ellipse">
            <a:avLst/>
          </a:prstGeom>
          <a:solidFill>
            <a:srgbClr val="F5A524"/>
          </a:solidFill>
          <a:ln w="12700">
            <a:solidFill>
              <a:srgbClr val="F5A524"/>
            </a:solidFill>
            <a:prstDash val="solid"/>
          </a:ln>
        </p:spPr>
      </p:sp>
      <p:sp>
        <p:nvSpPr>
          <p:cNvPr id="26" name="Text 24"/>
          <p:cNvSpPr txBox="1"/>
          <p:nvPr/>
        </p:nvSpPr>
        <p:spPr>
          <a:xfrm>
            <a:off x="5212080" y="4928616"/>
            <a:ext cx="502920" cy="502920"/>
          </a:xfrm>
          <a:prstGeom prst="rect">
            <a:avLst/>
          </a:prstGeom>
          <a:noFill/>
          <a:ln/>
        </p:spPr>
        <p:txBody>
          <a:bodyPr wrap="square" lIns="0" tIns="0" rIns="0" bIns="0" rtlCol="0" anchor="ctr"/>
          <a:lstStyle/>
          <a:p>
            <a:pPr algn="ctr" indent="0" marL="0">
              <a:buNone/>
            </a:pPr>
            <a:r>
              <a:rPr lang="en-US" sz="1430" b="1" dirty="0">
                <a:solidFill>
                  <a:srgbClr val="14213D"/>
                </a:solidFill>
                <a:latin typeface="Calibri" pitchFamily="34" charset="0"/>
                <a:ea typeface="Calibri" pitchFamily="34" charset="-122"/>
                <a:cs typeface="Calibri" pitchFamily="34" charset="-120"/>
              </a:rPr>
              <a:t>4</a:t>
            </a:r>
            <a:endParaRPr lang="en-US" sz="1430" dirty="0"/>
          </a:p>
        </p:txBody>
      </p:sp>
      <p:sp>
        <p:nvSpPr>
          <p:cNvPr id="27" name="Text 25"/>
          <p:cNvSpPr txBox="1"/>
          <p:nvPr/>
        </p:nvSpPr>
        <p:spPr>
          <a:xfrm>
            <a:off x="5943600" y="4882896"/>
            <a:ext cx="5715000" cy="384048"/>
          </a:xfrm>
          <a:prstGeom prst="rect">
            <a:avLst/>
          </a:prstGeom>
          <a:noFill/>
          <a:ln/>
        </p:spPr>
        <p:txBody>
          <a:bodyPr wrap="square" lIns="0" tIns="0" rIns="0" bIns="0" rtlCol="0" anchor="ctr"/>
          <a:lstStyle/>
          <a:p>
            <a:pPr indent="0" marL="0">
              <a:buNone/>
            </a:pPr>
            <a:r>
              <a:rPr lang="en-US" sz="1800" b="1" dirty="0">
                <a:solidFill>
                  <a:srgbClr val="1B2433"/>
                </a:solidFill>
                <a:latin typeface="Calibri" pitchFamily="34" charset="0"/>
                <a:ea typeface="Calibri" pitchFamily="34" charset="-122"/>
                <a:cs typeface="Calibri" pitchFamily="34" charset="-120"/>
              </a:rPr>
              <a:t>Genuine app only</a:t>
            </a:r>
            <a:endParaRPr lang="en-US" sz="1800" dirty="0"/>
          </a:p>
        </p:txBody>
      </p:sp>
      <p:sp>
        <p:nvSpPr>
          <p:cNvPr id="28" name="Text 26"/>
          <p:cNvSpPr txBox="1"/>
          <p:nvPr/>
        </p:nvSpPr>
        <p:spPr>
          <a:xfrm>
            <a:off x="5943600" y="5266944"/>
            <a:ext cx="5715000" cy="640080"/>
          </a:xfrm>
          <a:prstGeom prst="rect">
            <a:avLst/>
          </a:prstGeom>
          <a:noFill/>
          <a:ln/>
        </p:spPr>
        <p:txBody>
          <a:bodyPr wrap="square" lIns="0" tIns="0" rIns="0" bIns="0" rtlCol="0" anchor="t"/>
          <a:lstStyle/>
          <a:p>
            <a:pPr indent="0" marL="0">
              <a:buNone/>
            </a:pPr>
            <a:r>
              <a:rPr lang="en-US" sz="1400" dirty="0">
                <a:solidFill>
                  <a:srgbClr val="5B6472"/>
                </a:solidFill>
                <a:latin typeface="Calibri" pitchFamily="34" charset="0"/>
                <a:ea typeface="Calibri" pitchFamily="34" charset="-122"/>
                <a:cs typeface="Calibri" pitchFamily="34" charset="-120"/>
              </a:rPr>
              <a:t>App Check refuses scripts and modified apps at the database and at dispatch.</a:t>
            </a:r>
            <a:endParaRPr lang="en-US" sz="1400" dirty="0"/>
          </a:p>
        </p:txBody>
      </p:sp>
      <p:sp>
        <p:nvSpPr>
          <p:cNvPr id="29" name="Text 27"/>
          <p:cNvSpPr txBox="1"/>
          <p:nvPr/>
        </p:nvSpPr>
        <p:spPr>
          <a:xfrm>
            <a:off x="5212080" y="5943600"/>
            <a:ext cx="6446520" cy="411480"/>
          </a:xfrm>
          <a:prstGeom prst="rect">
            <a:avLst/>
          </a:prstGeom>
          <a:noFill/>
          <a:ln/>
        </p:spPr>
        <p:txBody>
          <a:bodyPr wrap="square" lIns="0" tIns="0" rIns="0" bIns="0" rtlCol="0" anchor="ctr"/>
          <a:lstStyle/>
          <a:p>
            <a:pPr indent="0" marL="0">
              <a:buNone/>
            </a:pPr>
            <a:r>
              <a:rPr lang="en-US" sz="1500" i="1" dirty="0">
                <a:solidFill>
                  <a:srgbClr val="1B2433"/>
                </a:solidFill>
                <a:latin typeface="Calibri" pitchFamily="34" charset="0"/>
                <a:ea typeface="Calibri" pitchFamily="34" charset="-122"/>
                <a:cs typeface="Calibri" pitchFamily="34" charset="-120"/>
              </a:rPr>
              <a:t>An ethics and data-privacy review will be completed before any real ID is collected.</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indent="0" marL="0">
              <a:buNone/>
            </a:pPr>
            <a:r>
              <a:rPr lang="en-US" sz="1200" b="1" spc="200" kern="0" dirty="0">
                <a:solidFill>
                  <a:srgbClr val="B7780A"/>
                </a:solidFill>
                <a:latin typeface="Calibri" pitchFamily="34" charset="0"/>
                <a:ea typeface="Calibri" pitchFamily="34" charset="-122"/>
                <a:cs typeface="Calibri" pitchFamily="34" charset="-120"/>
              </a:rPr>
              <a:t>METHODOLOGY</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1B2433"/>
                </a:solidFill>
                <a:latin typeface="Calibri" pitchFamily="34" charset="0"/>
                <a:ea typeface="Calibri" pitchFamily="34" charset="-122"/>
                <a:cs typeface="Calibri" pitchFamily="34" charset="-120"/>
              </a:rPr>
              <a:t>How it is built and how it will be evaluated</a:t>
            </a:r>
            <a:endParaRPr lang="en-US" sz="3400" dirty="0"/>
          </a:p>
        </p:txBody>
      </p:sp>
      <p:sp>
        <p:nvSpPr>
          <p:cNvPr id="4" name="Text 2"/>
          <p:cNvSpPr txBox="1"/>
          <p:nvPr/>
        </p:nvSpPr>
        <p:spPr>
          <a:xfrm>
            <a:off x="548640" y="1645920"/>
            <a:ext cx="5303520" cy="411480"/>
          </a:xfrm>
          <a:prstGeom prst="rect">
            <a:avLst/>
          </a:prstGeom>
          <a:noFill/>
          <a:ln/>
        </p:spPr>
        <p:txBody>
          <a:bodyPr wrap="square" lIns="0" tIns="0" rIns="0" bIns="0" rtlCol="0" anchor="ctr"/>
          <a:lstStyle/>
          <a:p>
            <a:pPr indent="0" marL="0">
              <a:buNone/>
            </a:pPr>
            <a:r>
              <a:rPr lang="en-US" sz="2000" b="1" dirty="0">
                <a:solidFill>
                  <a:srgbClr val="1B2433"/>
                </a:solidFill>
                <a:latin typeface="Calibri" pitchFamily="34" charset="0"/>
                <a:ea typeface="Calibri" pitchFamily="34" charset="-122"/>
                <a:cs typeface="Calibri" pitchFamily="34" charset="-120"/>
              </a:rPr>
              <a:t>Development — iterative, in phases</a:t>
            </a:r>
            <a:endParaRPr lang="en-US" sz="2000" dirty="0"/>
          </a:p>
        </p:txBody>
      </p:sp>
      <p:sp>
        <p:nvSpPr>
          <p:cNvPr id="5" name="Shape 3"/>
          <p:cNvSpPr/>
          <p:nvPr/>
        </p:nvSpPr>
        <p:spPr>
          <a:xfrm>
            <a:off x="548640" y="2194560"/>
            <a:ext cx="457200" cy="457200"/>
          </a:xfrm>
          <a:prstGeom prst="ellipse">
            <a:avLst/>
          </a:prstGeom>
          <a:solidFill>
            <a:srgbClr val="F5A524"/>
          </a:solidFill>
          <a:ln w="12700">
            <a:solidFill>
              <a:srgbClr val="F5A524"/>
            </a:solidFill>
            <a:prstDash val="solid"/>
          </a:ln>
        </p:spPr>
      </p:sp>
      <p:sp>
        <p:nvSpPr>
          <p:cNvPr id="6" name="Text 4"/>
          <p:cNvSpPr txBox="1"/>
          <p:nvPr/>
        </p:nvSpPr>
        <p:spPr>
          <a:xfrm>
            <a:off x="548640" y="2194560"/>
            <a:ext cx="4572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188720" y="2194560"/>
            <a:ext cx="4663440" cy="457200"/>
          </a:xfrm>
          <a:prstGeom prst="rect">
            <a:avLst/>
          </a:prstGeom>
          <a:noFill/>
          <a:ln/>
        </p:spPr>
        <p:txBody>
          <a:bodyPr wrap="square" lIns="0" tIns="0" rIns="0" bIns="0" rtlCol="0" anchor="ctr"/>
          <a:lstStyle/>
          <a:p>
            <a:pPr indent="0" marL="0">
              <a:buNone/>
            </a:pPr>
            <a:r>
              <a:rPr lang="en-US" sz="1600" dirty="0">
                <a:solidFill>
                  <a:srgbClr val="1B2433"/>
                </a:solidFill>
                <a:latin typeface="Calibri" pitchFamily="34" charset="0"/>
                <a:ea typeface="Calibri" pitchFamily="34" charset="-122"/>
                <a:cs typeface="Calibri" pitchFamily="34" charset="-120"/>
              </a:rPr>
              <a:t>Requirements and design</a:t>
            </a:r>
            <a:endParaRPr lang="en-US" sz="1600" dirty="0"/>
          </a:p>
        </p:txBody>
      </p:sp>
      <p:sp>
        <p:nvSpPr>
          <p:cNvPr id="8" name="Shape 6"/>
          <p:cNvSpPr/>
          <p:nvPr/>
        </p:nvSpPr>
        <p:spPr>
          <a:xfrm>
            <a:off x="548640" y="2880360"/>
            <a:ext cx="457200" cy="457200"/>
          </a:xfrm>
          <a:prstGeom prst="ellipse">
            <a:avLst/>
          </a:prstGeom>
          <a:solidFill>
            <a:srgbClr val="F5A524"/>
          </a:solidFill>
          <a:ln w="12700">
            <a:solidFill>
              <a:srgbClr val="F5A524"/>
            </a:solidFill>
            <a:prstDash val="solid"/>
          </a:ln>
        </p:spPr>
      </p:sp>
      <p:sp>
        <p:nvSpPr>
          <p:cNvPr id="9" name="Text 7"/>
          <p:cNvSpPr txBox="1"/>
          <p:nvPr/>
        </p:nvSpPr>
        <p:spPr>
          <a:xfrm>
            <a:off x="548640" y="2880360"/>
            <a:ext cx="4572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188720" y="2880360"/>
            <a:ext cx="4663440" cy="457200"/>
          </a:xfrm>
          <a:prstGeom prst="rect">
            <a:avLst/>
          </a:prstGeom>
          <a:noFill/>
          <a:ln/>
        </p:spPr>
        <p:txBody>
          <a:bodyPr wrap="square" lIns="0" tIns="0" rIns="0" bIns="0" rtlCol="0" anchor="ctr"/>
          <a:lstStyle/>
          <a:p>
            <a:pPr indent="0" marL="0">
              <a:buNone/>
            </a:pPr>
            <a:r>
              <a:rPr lang="en-US" sz="1600" dirty="0">
                <a:solidFill>
                  <a:srgbClr val="1B2433"/>
                </a:solidFill>
                <a:latin typeface="Calibri" pitchFamily="34" charset="0"/>
                <a:ea typeface="Calibri" pitchFamily="34" charset="-122"/>
                <a:cs typeface="Calibri" pitchFamily="34" charset="-120"/>
              </a:rPr>
              <a:t>Backend and security rules</a:t>
            </a:r>
            <a:endParaRPr lang="en-US" sz="1600" dirty="0"/>
          </a:p>
        </p:txBody>
      </p:sp>
      <p:sp>
        <p:nvSpPr>
          <p:cNvPr id="11" name="Shape 9"/>
          <p:cNvSpPr/>
          <p:nvPr/>
        </p:nvSpPr>
        <p:spPr>
          <a:xfrm>
            <a:off x="548640" y="3566160"/>
            <a:ext cx="457200" cy="457200"/>
          </a:xfrm>
          <a:prstGeom prst="ellipse">
            <a:avLst/>
          </a:prstGeom>
          <a:solidFill>
            <a:srgbClr val="F5A524"/>
          </a:solidFill>
          <a:ln w="12700">
            <a:solidFill>
              <a:srgbClr val="F5A524"/>
            </a:solidFill>
            <a:prstDash val="solid"/>
          </a:ln>
        </p:spPr>
      </p:sp>
      <p:sp>
        <p:nvSpPr>
          <p:cNvPr id="12" name="Text 10"/>
          <p:cNvSpPr txBox="1"/>
          <p:nvPr/>
        </p:nvSpPr>
        <p:spPr>
          <a:xfrm>
            <a:off x="548640" y="3566160"/>
            <a:ext cx="4572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188720" y="3566160"/>
            <a:ext cx="4663440" cy="457200"/>
          </a:xfrm>
          <a:prstGeom prst="rect">
            <a:avLst/>
          </a:prstGeom>
          <a:noFill/>
          <a:ln/>
        </p:spPr>
        <p:txBody>
          <a:bodyPr wrap="square" lIns="0" tIns="0" rIns="0" bIns="0" rtlCol="0" anchor="ctr"/>
          <a:lstStyle/>
          <a:p>
            <a:pPr indent="0" marL="0">
              <a:buNone/>
            </a:pPr>
            <a:r>
              <a:rPr lang="en-US" sz="1600" dirty="0">
                <a:solidFill>
                  <a:srgbClr val="1B2433"/>
                </a:solidFill>
                <a:latin typeface="Calibri" pitchFamily="34" charset="0"/>
                <a:ea typeface="Calibri" pitchFamily="34" charset="-122"/>
                <a:cs typeface="Calibri" pitchFamily="34" charset="-120"/>
              </a:rPr>
              <a:t>Commuter, driver and admin features</a:t>
            </a:r>
            <a:endParaRPr lang="en-US" sz="1600" dirty="0"/>
          </a:p>
        </p:txBody>
      </p:sp>
      <p:sp>
        <p:nvSpPr>
          <p:cNvPr id="14" name="Shape 12"/>
          <p:cNvSpPr/>
          <p:nvPr/>
        </p:nvSpPr>
        <p:spPr>
          <a:xfrm>
            <a:off x="548640" y="4251960"/>
            <a:ext cx="457200" cy="457200"/>
          </a:xfrm>
          <a:prstGeom prst="ellipse">
            <a:avLst/>
          </a:prstGeom>
          <a:solidFill>
            <a:srgbClr val="F5A524"/>
          </a:solidFill>
          <a:ln w="12700">
            <a:solidFill>
              <a:srgbClr val="F5A524"/>
            </a:solidFill>
            <a:prstDash val="solid"/>
          </a:ln>
        </p:spPr>
      </p:sp>
      <p:sp>
        <p:nvSpPr>
          <p:cNvPr id="15" name="Text 13"/>
          <p:cNvSpPr txBox="1"/>
          <p:nvPr/>
        </p:nvSpPr>
        <p:spPr>
          <a:xfrm>
            <a:off x="548640" y="4251960"/>
            <a:ext cx="4572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4</a:t>
            </a:r>
            <a:endParaRPr lang="en-US" sz="1300" dirty="0"/>
          </a:p>
        </p:txBody>
      </p:sp>
      <p:sp>
        <p:nvSpPr>
          <p:cNvPr id="16" name="Text 14"/>
          <p:cNvSpPr txBox="1"/>
          <p:nvPr/>
        </p:nvSpPr>
        <p:spPr>
          <a:xfrm>
            <a:off x="1188720" y="4251960"/>
            <a:ext cx="4663440" cy="457200"/>
          </a:xfrm>
          <a:prstGeom prst="rect">
            <a:avLst/>
          </a:prstGeom>
          <a:noFill/>
          <a:ln/>
        </p:spPr>
        <p:txBody>
          <a:bodyPr wrap="square" lIns="0" tIns="0" rIns="0" bIns="0" rtlCol="0" anchor="ctr"/>
          <a:lstStyle/>
          <a:p>
            <a:pPr indent="0" marL="0">
              <a:buNone/>
            </a:pPr>
            <a:r>
              <a:rPr lang="en-US" sz="1600" dirty="0">
                <a:solidFill>
                  <a:srgbClr val="1B2433"/>
                </a:solidFill>
                <a:latin typeface="Calibri" pitchFamily="34" charset="0"/>
                <a:ea typeface="Calibri" pitchFamily="34" charset="-122"/>
                <a:cs typeface="Calibri" pitchFamily="34" charset="-120"/>
              </a:rPr>
              <a:t>Maps and notifications</a:t>
            </a:r>
            <a:endParaRPr lang="en-US" sz="1600" dirty="0"/>
          </a:p>
        </p:txBody>
      </p:sp>
      <p:sp>
        <p:nvSpPr>
          <p:cNvPr id="17" name="Shape 15"/>
          <p:cNvSpPr/>
          <p:nvPr/>
        </p:nvSpPr>
        <p:spPr>
          <a:xfrm>
            <a:off x="548640" y="4937760"/>
            <a:ext cx="457200" cy="457200"/>
          </a:xfrm>
          <a:prstGeom prst="ellipse">
            <a:avLst/>
          </a:prstGeom>
          <a:solidFill>
            <a:srgbClr val="F5A524"/>
          </a:solidFill>
          <a:ln w="12700">
            <a:solidFill>
              <a:srgbClr val="F5A524"/>
            </a:solidFill>
            <a:prstDash val="solid"/>
          </a:ln>
        </p:spPr>
      </p:sp>
      <p:sp>
        <p:nvSpPr>
          <p:cNvPr id="18" name="Text 16"/>
          <p:cNvSpPr txBox="1"/>
          <p:nvPr/>
        </p:nvSpPr>
        <p:spPr>
          <a:xfrm>
            <a:off x="548640" y="4937760"/>
            <a:ext cx="4572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5</a:t>
            </a:r>
            <a:endParaRPr lang="en-US" sz="1300" dirty="0"/>
          </a:p>
        </p:txBody>
      </p:sp>
      <p:sp>
        <p:nvSpPr>
          <p:cNvPr id="19" name="Text 17"/>
          <p:cNvSpPr txBox="1"/>
          <p:nvPr/>
        </p:nvSpPr>
        <p:spPr>
          <a:xfrm>
            <a:off x="1188720" y="4937760"/>
            <a:ext cx="4663440" cy="457200"/>
          </a:xfrm>
          <a:prstGeom prst="rect">
            <a:avLst/>
          </a:prstGeom>
          <a:noFill/>
          <a:ln/>
        </p:spPr>
        <p:txBody>
          <a:bodyPr wrap="square" lIns="0" tIns="0" rIns="0" bIns="0" rtlCol="0" anchor="ctr"/>
          <a:lstStyle/>
          <a:p>
            <a:pPr indent="0" marL="0">
              <a:buNone/>
            </a:pPr>
            <a:r>
              <a:rPr lang="en-US" sz="1600" dirty="0">
                <a:solidFill>
                  <a:srgbClr val="1B2433"/>
                </a:solidFill>
                <a:latin typeface="Calibri" pitchFamily="34" charset="0"/>
                <a:ea typeface="Calibri" pitchFamily="34" charset="-122"/>
                <a:cs typeface="Calibri" pitchFamily="34" charset="-120"/>
              </a:rPr>
              <a:t>Testing and security review</a:t>
            </a:r>
            <a:endParaRPr lang="en-US" sz="1600" dirty="0"/>
          </a:p>
        </p:txBody>
      </p:sp>
      <p:sp>
        <p:nvSpPr>
          <p:cNvPr id="20" name="Shape 18"/>
          <p:cNvSpPr/>
          <p:nvPr/>
        </p:nvSpPr>
        <p:spPr>
          <a:xfrm>
            <a:off x="548640" y="5623560"/>
            <a:ext cx="457200" cy="457200"/>
          </a:xfrm>
          <a:prstGeom prst="ellipse">
            <a:avLst/>
          </a:prstGeom>
          <a:solidFill>
            <a:srgbClr val="F5A524"/>
          </a:solidFill>
          <a:ln w="12700">
            <a:solidFill>
              <a:srgbClr val="F5A524"/>
            </a:solidFill>
            <a:prstDash val="solid"/>
          </a:ln>
        </p:spPr>
      </p:sp>
      <p:sp>
        <p:nvSpPr>
          <p:cNvPr id="21" name="Text 19"/>
          <p:cNvSpPr txBox="1"/>
          <p:nvPr/>
        </p:nvSpPr>
        <p:spPr>
          <a:xfrm>
            <a:off x="548640" y="5623560"/>
            <a:ext cx="457200" cy="45720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6</a:t>
            </a:r>
            <a:endParaRPr lang="en-US" sz="1300" dirty="0"/>
          </a:p>
        </p:txBody>
      </p:sp>
      <p:sp>
        <p:nvSpPr>
          <p:cNvPr id="22" name="Text 20"/>
          <p:cNvSpPr txBox="1"/>
          <p:nvPr/>
        </p:nvSpPr>
        <p:spPr>
          <a:xfrm>
            <a:off x="1188720" y="5623560"/>
            <a:ext cx="4663440" cy="457200"/>
          </a:xfrm>
          <a:prstGeom prst="rect">
            <a:avLst/>
          </a:prstGeom>
          <a:noFill/>
          <a:ln/>
        </p:spPr>
        <p:txBody>
          <a:bodyPr wrap="square" lIns="0" tIns="0" rIns="0" bIns="0" rtlCol="0" anchor="ctr"/>
          <a:lstStyle/>
          <a:p>
            <a:pPr indent="0" marL="0">
              <a:buNone/>
            </a:pPr>
            <a:r>
              <a:rPr lang="en-US" sz="1600" dirty="0">
                <a:solidFill>
                  <a:srgbClr val="1B2433"/>
                </a:solidFill>
                <a:latin typeface="Calibri" pitchFamily="34" charset="0"/>
                <a:ea typeface="Calibri" pitchFamily="34" charset="-122"/>
                <a:cs typeface="Calibri" pitchFamily="34" charset="-120"/>
              </a:rPr>
              <a:t>Deployment: Android app and web</a:t>
            </a:r>
            <a:endParaRPr lang="en-US" sz="1600" dirty="0"/>
          </a:p>
        </p:txBody>
      </p:sp>
      <p:sp>
        <p:nvSpPr>
          <p:cNvPr id="23" name="Shape 21"/>
          <p:cNvSpPr/>
          <p:nvPr/>
        </p:nvSpPr>
        <p:spPr>
          <a:xfrm>
            <a:off x="6309360" y="1645920"/>
            <a:ext cx="5349240" cy="4663440"/>
          </a:xfrm>
          <a:prstGeom prst="roundRect">
            <a:avLst>
              <a:gd name="adj" fmla="val 2353"/>
            </a:avLst>
          </a:prstGeom>
          <a:solidFill>
            <a:srgbClr val="F2F4F8"/>
          </a:solidFill>
          <a:ln w="12700">
            <a:solidFill>
              <a:srgbClr val="F2F4F8"/>
            </a:solidFill>
            <a:prstDash val="solid"/>
          </a:ln>
        </p:spPr>
      </p:sp>
      <p:sp>
        <p:nvSpPr>
          <p:cNvPr id="24" name="Text 22"/>
          <p:cNvSpPr txBox="1"/>
          <p:nvPr/>
        </p:nvSpPr>
        <p:spPr>
          <a:xfrm>
            <a:off x="6629400" y="1874520"/>
            <a:ext cx="4754880" cy="411480"/>
          </a:xfrm>
          <a:prstGeom prst="rect">
            <a:avLst/>
          </a:prstGeom>
          <a:noFill/>
          <a:ln/>
        </p:spPr>
        <p:txBody>
          <a:bodyPr wrap="square" lIns="0" tIns="0" rIns="0" bIns="0" rtlCol="0" anchor="ctr"/>
          <a:lstStyle/>
          <a:p>
            <a:pPr indent="0" marL="0">
              <a:buNone/>
            </a:pPr>
            <a:r>
              <a:rPr lang="en-US" sz="2000" b="1" dirty="0">
                <a:solidFill>
                  <a:srgbClr val="1B2433"/>
                </a:solidFill>
                <a:latin typeface="Calibri" pitchFamily="34" charset="0"/>
                <a:ea typeface="Calibri" pitchFamily="34" charset="-122"/>
                <a:cs typeface="Calibri" pitchFamily="34" charset="-120"/>
              </a:rPr>
              <a:t>Evaluation — user acceptance testing</a:t>
            </a:r>
            <a:endParaRPr lang="en-US" sz="2000" dirty="0"/>
          </a:p>
        </p:txBody>
      </p:sp>
      <p:sp>
        <p:nvSpPr>
          <p:cNvPr id="25" name="Text 23"/>
          <p:cNvSpPr txBox="1"/>
          <p:nvPr/>
        </p:nvSpPr>
        <p:spPr>
          <a:xfrm>
            <a:off x="6629400" y="2423160"/>
            <a:ext cx="4754880" cy="374904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B2433"/>
                </a:solidFill>
                <a:latin typeface="Calibri" pitchFamily="34" charset="0"/>
                <a:ea typeface="Calibri" pitchFamily="34" charset="-122"/>
                <a:cs typeface="Calibri" pitchFamily="34" charset="-120"/>
              </a:rPr>
              <a:t>Participants: 5 TODA drivers and 5 commuters, on their own phones, in Filipino</a:t>
            </a:r>
            <a:endParaRPr lang="en-US" sz="1500" dirty="0"/>
          </a:p>
          <a:p>
            <a:pPr marL="342900" indent="-342900">
              <a:spcAft>
                <a:spcPts val="900"/>
              </a:spcAft>
              <a:buSzPct val="100000"/>
              <a:buChar char="•"/>
            </a:pPr>
            <a:r>
              <a:rPr lang="en-US" sz="1500" dirty="0">
                <a:solidFill>
                  <a:srgbClr val="1B2433"/>
                </a:solidFill>
                <a:latin typeface="Calibri" pitchFamily="34" charset="0"/>
                <a:ea typeface="Calibri" pitchFamily="34" charset="-122"/>
                <a:cs typeface="Calibri" pitchFamily="34" charset="-120"/>
              </a:rPr>
              <a:t>Tasks: sign up, send an ID, book, track, cancel, rate; drivers go online and complete a trip</a:t>
            </a:r>
            <a:endParaRPr lang="en-US" sz="1500" dirty="0"/>
          </a:p>
          <a:p>
            <a:pPr marL="342900" indent="-342900">
              <a:spcAft>
                <a:spcPts val="900"/>
              </a:spcAft>
              <a:buSzPct val="100000"/>
              <a:buChar char="•"/>
            </a:pPr>
            <a:r>
              <a:rPr lang="en-US" sz="1500" dirty="0">
                <a:solidFill>
                  <a:srgbClr val="1B2433"/>
                </a:solidFill>
                <a:latin typeface="Calibri" pitchFamily="34" charset="0"/>
                <a:ea typeface="Calibri" pitchFamily="34" charset="-122"/>
                <a:cs typeface="Calibri" pitchFamily="34" charset="-120"/>
              </a:rPr>
              <a:t>Measures: task completion, time on task, errors, and the System Usability Scale (SUS)</a:t>
            </a:r>
            <a:endParaRPr lang="en-US" sz="1500" dirty="0"/>
          </a:p>
          <a:p>
            <a:pPr marL="342900" indent="-342900">
              <a:spcAft>
                <a:spcPts val="900"/>
              </a:spcAft>
              <a:buSzPct val="100000"/>
              <a:buChar char="•"/>
            </a:pPr>
            <a:r>
              <a:rPr lang="en-US" sz="1500" dirty="0">
                <a:solidFill>
                  <a:srgbClr val="1B2433"/>
                </a:solidFill>
                <a:latin typeface="Calibri" pitchFamily="34" charset="0"/>
                <a:ea typeface="Calibri" pitchFamily="34" charset="-122"/>
                <a:cs typeface="Calibri" pitchFamily="34" charset="-120"/>
              </a:rPr>
              <a:t>Debrief: would drivers use it for real work?</a:t>
            </a:r>
            <a:endParaRPr lang="en-US" sz="1500" dirty="0"/>
          </a:p>
          <a:p>
            <a:pPr marL="342900" indent="-342900">
              <a:spcAft>
                <a:spcPts val="900"/>
              </a:spcAft>
              <a:buSzPct val="100000"/>
              <a:buChar char="•"/>
            </a:pPr>
            <a:r>
              <a:rPr lang="en-US" sz="1500" dirty="0">
                <a:solidFill>
                  <a:srgbClr val="1B2433"/>
                </a:solidFill>
                <a:latin typeface="Calibri" pitchFamily="34" charset="0"/>
                <a:ea typeface="Calibri" pitchFamily="34" charset="-122"/>
                <a:cs typeface="Calibri" pitchFamily="34" charset="-120"/>
              </a:rPr>
              <a:t>Then a small pilot with the chapter, with daily monitoring and stop thresholds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274320"/>
          </a:xfrm>
          <a:prstGeom prst="rect">
            <a:avLst/>
          </a:prstGeom>
          <a:noFill/>
          <a:ln/>
        </p:spPr>
        <p:txBody>
          <a:bodyPr wrap="square" lIns="0" tIns="0" rIns="0" bIns="0" rtlCol="0" anchor="ctr"/>
          <a:lstStyle/>
          <a:p>
            <a:pPr indent="0" marL="0">
              <a:buNone/>
            </a:pPr>
            <a:r>
              <a:rPr lang="en-US" sz="1200" b="1" spc="200" kern="0" dirty="0">
                <a:solidFill>
                  <a:srgbClr val="B7780A"/>
                </a:solidFill>
                <a:latin typeface="Calibri" pitchFamily="34" charset="0"/>
                <a:ea typeface="Calibri" pitchFamily="34" charset="-122"/>
                <a:cs typeface="Calibri" pitchFamily="34" charset="-120"/>
              </a:rPr>
              <a:t>CURRENT STATUS</a:t>
            </a:r>
            <a:endParaRPr lang="en-US" sz="1200" dirty="0"/>
          </a:p>
        </p:txBody>
      </p:sp>
      <p:sp>
        <p:nvSpPr>
          <p:cNvPr id="3" name="Text 1"/>
          <p:cNvSpPr txBox="1"/>
          <p:nvPr/>
        </p:nvSpPr>
        <p:spPr>
          <a:xfrm>
            <a:off x="548640" y="640080"/>
            <a:ext cx="11064240" cy="731520"/>
          </a:xfrm>
          <a:prstGeom prst="rect">
            <a:avLst/>
          </a:prstGeom>
          <a:noFill/>
          <a:ln/>
        </p:spPr>
        <p:txBody>
          <a:bodyPr wrap="square" lIns="0" tIns="0" rIns="0" bIns="0" rtlCol="0" anchor="t"/>
          <a:lstStyle/>
          <a:p>
            <a:pPr indent="0" marL="0">
              <a:buNone/>
            </a:pPr>
            <a:r>
              <a:rPr lang="en-US" sz="3400" b="1" dirty="0">
                <a:solidFill>
                  <a:srgbClr val="1B2433"/>
                </a:solidFill>
                <a:latin typeface="Calibri" pitchFamily="34" charset="0"/>
                <a:ea typeface="Calibri" pitchFamily="34" charset="-122"/>
                <a:cs typeface="Calibri" pitchFamily="34" charset="-120"/>
              </a:rPr>
              <a:t>A working prototype, ready for testing</a:t>
            </a:r>
            <a:endParaRPr lang="en-US" sz="3400" dirty="0"/>
          </a:p>
        </p:txBody>
      </p:sp>
      <p:sp>
        <p:nvSpPr>
          <p:cNvPr id="4" name="Shape 2"/>
          <p:cNvSpPr/>
          <p:nvPr/>
        </p:nvSpPr>
        <p:spPr>
          <a:xfrm>
            <a:off x="548640" y="1645920"/>
            <a:ext cx="3931920" cy="4663440"/>
          </a:xfrm>
          <a:prstGeom prst="roundRect">
            <a:avLst>
              <a:gd name="adj" fmla="val 2791"/>
            </a:avLst>
          </a:prstGeom>
          <a:solidFill>
            <a:srgbClr val="14213D"/>
          </a:solidFill>
          <a:ln w="12700">
            <a:solidFill>
              <a:srgbClr val="14213D"/>
            </a:solidFill>
            <a:prstDash val="solid"/>
          </a:ln>
        </p:spPr>
      </p:sp>
      <p:sp>
        <p:nvSpPr>
          <p:cNvPr id="5" name="Text 3"/>
          <p:cNvSpPr txBox="1"/>
          <p:nvPr/>
        </p:nvSpPr>
        <p:spPr>
          <a:xfrm>
            <a:off x="822960" y="2103120"/>
            <a:ext cx="3383280" cy="109728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89 / 93</a:t>
            </a:r>
            <a:endParaRPr lang="en-US" sz="6000" dirty="0"/>
          </a:p>
        </p:txBody>
      </p:sp>
      <p:sp>
        <p:nvSpPr>
          <p:cNvPr id="6" name="Text 4"/>
          <p:cNvSpPr txBox="1"/>
          <p:nvPr/>
        </p:nvSpPr>
        <p:spPr>
          <a:xfrm>
            <a:off x="822960" y="3200400"/>
            <a:ext cx="3383280" cy="411480"/>
          </a:xfrm>
          <a:prstGeom prst="rect">
            <a:avLst/>
          </a:prstGeom>
          <a:noFill/>
          <a:ln/>
        </p:spPr>
        <p:txBody>
          <a:bodyPr wrap="square" lIns="0" tIns="0" rIns="0" bIns="0" rtlCol="0" anchor="ctr"/>
          <a:lstStyle/>
          <a:p>
            <a:pPr indent="0" marL="0">
              <a:buNone/>
            </a:pPr>
            <a:r>
              <a:rPr lang="en-US" sz="1800" dirty="0">
                <a:solidFill>
                  <a:srgbClr val="D6DEEA"/>
                </a:solidFill>
                <a:latin typeface="Calibri" pitchFamily="34" charset="0"/>
                <a:ea typeface="Calibri" pitchFamily="34" charset="-122"/>
                <a:cs typeface="Calibri" pitchFamily="34" charset="-120"/>
              </a:rPr>
              <a:t>build steps complete</a:t>
            </a:r>
            <a:endParaRPr lang="en-US" sz="1800" dirty="0"/>
          </a:p>
        </p:txBody>
      </p:sp>
      <p:sp>
        <p:nvSpPr>
          <p:cNvPr id="7" name="Shape 5"/>
          <p:cNvSpPr/>
          <p:nvPr/>
        </p:nvSpPr>
        <p:spPr>
          <a:xfrm>
            <a:off x="822960" y="3931920"/>
            <a:ext cx="3383280" cy="274320"/>
          </a:xfrm>
          <a:prstGeom prst="roundRect">
            <a:avLst>
              <a:gd name="adj" fmla="val 50000"/>
            </a:avLst>
          </a:prstGeom>
          <a:solidFill>
            <a:srgbClr val="2C3A58"/>
          </a:solidFill>
          <a:ln w="12700">
            <a:solidFill>
              <a:srgbClr val="2C3A58"/>
            </a:solidFill>
            <a:prstDash val="solid"/>
          </a:ln>
        </p:spPr>
      </p:sp>
      <p:sp>
        <p:nvSpPr>
          <p:cNvPr id="8" name="Shape 6"/>
          <p:cNvSpPr/>
          <p:nvPr/>
        </p:nvSpPr>
        <p:spPr>
          <a:xfrm>
            <a:off x="822960" y="3931920"/>
            <a:ext cx="3237763" cy="274320"/>
          </a:xfrm>
          <a:prstGeom prst="roundRect">
            <a:avLst>
              <a:gd name="adj" fmla="val 50000"/>
            </a:avLst>
          </a:prstGeom>
          <a:solidFill>
            <a:srgbClr val="F5A524"/>
          </a:solidFill>
          <a:ln w="12700">
            <a:solidFill>
              <a:srgbClr val="F5A524"/>
            </a:solidFill>
            <a:prstDash val="solid"/>
          </a:ln>
        </p:spPr>
      </p:sp>
      <p:sp>
        <p:nvSpPr>
          <p:cNvPr id="9" name="Text 7"/>
          <p:cNvSpPr txBox="1"/>
          <p:nvPr/>
        </p:nvSpPr>
        <p:spPr>
          <a:xfrm>
            <a:off x="822960" y="4480560"/>
            <a:ext cx="3383280" cy="1554480"/>
          </a:xfrm>
          <a:prstGeom prst="rect">
            <a:avLst/>
          </a:prstGeom>
          <a:noFill/>
          <a:ln/>
        </p:spPr>
        <p:txBody>
          <a:bodyPr wrap="square" lIns="0" tIns="0" rIns="0" bIns="0" rtlCol="0" anchor="t"/>
          <a:lstStyle/>
          <a:p>
            <a:pPr indent="0" marL="0">
              <a:buNone/>
            </a:pPr>
            <a:r>
              <a:rPr lang="en-US" sz="1400" dirty="0">
                <a:solidFill>
                  <a:srgbClr val="D6DEEA"/>
                </a:solidFill>
                <a:latin typeface="Calibri" pitchFamily="34" charset="0"/>
                <a:ea typeface="Calibri" pitchFamily="34" charset="-122"/>
                <a:cs typeface="Calibri" pitchFamily="34" charset="-120"/>
              </a:rPr>
              <a:t>The four remaining steps depend on others: testing with the chapter, a language review, the pilot, and moving old records from the earlier web app.</a:t>
            </a:r>
            <a:endParaRPr lang="en-US" sz="1400" dirty="0"/>
          </a:p>
        </p:txBody>
      </p:sp>
      <p:sp>
        <p:nvSpPr>
          <p:cNvPr id="10" name="Text 8"/>
          <p:cNvSpPr txBox="1"/>
          <p:nvPr/>
        </p:nvSpPr>
        <p:spPr>
          <a:xfrm>
            <a:off x="4846320" y="1691640"/>
            <a:ext cx="3200400" cy="457200"/>
          </a:xfrm>
          <a:prstGeom prst="rect">
            <a:avLst/>
          </a:prstGeom>
          <a:noFill/>
          <a:ln/>
        </p:spPr>
        <p:txBody>
          <a:bodyPr wrap="square" lIns="0" tIns="0" rIns="0" bIns="0" rtlCol="0" anchor="ctr"/>
          <a:lstStyle/>
          <a:p>
            <a:pPr indent="0" marL="0">
              <a:buNone/>
            </a:pPr>
            <a:r>
              <a:rPr lang="en-US" sz="2200" b="1" dirty="0">
                <a:solidFill>
                  <a:srgbClr val="14213D"/>
                </a:solidFill>
                <a:latin typeface="Calibri" pitchFamily="34" charset="0"/>
                <a:ea typeface="Calibri" pitchFamily="34" charset="-122"/>
                <a:cs typeface="Calibri" pitchFamily="34" charset="-120"/>
              </a:rPr>
              <a:t>Done</a:t>
            </a:r>
            <a:endParaRPr lang="en-US" sz="2200" dirty="0"/>
          </a:p>
        </p:txBody>
      </p:sp>
      <p:sp>
        <p:nvSpPr>
          <p:cNvPr id="11" name="Text 9"/>
          <p:cNvSpPr txBox="1"/>
          <p:nvPr/>
        </p:nvSpPr>
        <p:spPr>
          <a:xfrm>
            <a:off x="4846320" y="2286000"/>
            <a:ext cx="3200400" cy="39319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B2433"/>
                </a:solidFill>
                <a:latin typeface="Calibri" pitchFamily="34" charset="0"/>
                <a:ea typeface="Calibri" pitchFamily="34" charset="-122"/>
                <a:cs typeface="Calibri" pitchFamily="34" charset="-120"/>
              </a:rPr>
              <a:t>Android app and web version, deployed</a:t>
            </a:r>
            <a:endParaRPr lang="en-US" sz="1600" dirty="0"/>
          </a:p>
          <a:p>
            <a:pPr marL="342900" indent="-342900">
              <a:spcAft>
                <a:spcPts val="1200"/>
              </a:spcAft>
              <a:buSzPct val="100000"/>
              <a:buChar char="•"/>
            </a:pPr>
            <a:r>
              <a:rPr lang="en-US" sz="1600" dirty="0">
                <a:solidFill>
                  <a:srgbClr val="1B2433"/>
                </a:solidFill>
                <a:latin typeface="Calibri" pitchFamily="34" charset="0"/>
                <a:ea typeface="Calibri" pitchFamily="34" charset="-122"/>
                <a:cs typeface="Calibri" pitchFamily="34" charset="-120"/>
              </a:rPr>
              <a:t>Nearest-driver dispatch on the server</a:t>
            </a:r>
            <a:endParaRPr lang="en-US" sz="1600" dirty="0"/>
          </a:p>
          <a:p>
            <a:pPr marL="342900" indent="-342900">
              <a:spcAft>
                <a:spcPts val="1200"/>
              </a:spcAft>
              <a:buSzPct val="100000"/>
              <a:buChar char="•"/>
            </a:pPr>
            <a:r>
              <a:rPr lang="en-US" sz="1600" dirty="0">
                <a:solidFill>
                  <a:srgbClr val="1B2433"/>
                </a:solidFill>
                <a:latin typeface="Calibri" pitchFamily="34" charset="0"/>
                <a:ea typeface="Calibri" pitchFamily="34" charset="-122"/>
                <a:cs typeface="Calibri" pitchFamily="34" charset="-120"/>
              </a:rPr>
              <a:t>ID verification with automatic deletion</a:t>
            </a:r>
            <a:endParaRPr lang="en-US" sz="1600" dirty="0"/>
          </a:p>
          <a:p>
            <a:pPr marL="342900" indent="-342900">
              <a:spcAft>
                <a:spcPts val="1200"/>
              </a:spcAft>
              <a:buSzPct val="100000"/>
              <a:buChar char="•"/>
            </a:pPr>
            <a:r>
              <a:rPr lang="en-US" sz="1600" dirty="0">
                <a:solidFill>
                  <a:srgbClr val="1B2433"/>
                </a:solidFill>
                <a:latin typeface="Calibri" pitchFamily="34" charset="0"/>
                <a:ea typeface="Calibri" pitchFamily="34" charset="-122"/>
                <a:cs typeface="Calibri" pitchFamily="34" charset="-120"/>
              </a:rPr>
              <a:t>216 security tests and a security review</a:t>
            </a:r>
            <a:endParaRPr lang="en-US" sz="1600" dirty="0"/>
          </a:p>
          <a:p>
            <a:pPr marL="342900" indent="-342900">
              <a:spcAft>
                <a:spcPts val="1200"/>
              </a:spcAft>
              <a:buSzPct val="100000"/>
              <a:buChar char="•"/>
            </a:pPr>
            <a:r>
              <a:rPr lang="en-US" sz="1600" dirty="0">
                <a:solidFill>
                  <a:srgbClr val="1B2433"/>
                </a:solidFill>
                <a:latin typeface="Calibri" pitchFamily="34" charset="0"/>
                <a:ea typeface="Calibri" pitchFamily="34" charset="-122"/>
                <a:cs typeface="Calibri" pitchFamily="34" charset="-120"/>
              </a:rPr>
              <a:t>User manual and testing kit</a:t>
            </a:r>
            <a:endParaRPr lang="en-US" sz="1600" dirty="0"/>
          </a:p>
        </p:txBody>
      </p:sp>
      <p:sp>
        <p:nvSpPr>
          <p:cNvPr id="12" name="Text 10"/>
          <p:cNvSpPr txBox="1"/>
          <p:nvPr/>
        </p:nvSpPr>
        <p:spPr>
          <a:xfrm>
            <a:off x="8321040" y="1691640"/>
            <a:ext cx="3200400" cy="457200"/>
          </a:xfrm>
          <a:prstGeom prst="rect">
            <a:avLst/>
          </a:prstGeom>
          <a:noFill/>
          <a:ln/>
        </p:spPr>
        <p:txBody>
          <a:bodyPr wrap="square" lIns="0" tIns="0" rIns="0" bIns="0" rtlCol="0" anchor="ctr"/>
          <a:lstStyle/>
          <a:p>
            <a:pPr indent="0" marL="0">
              <a:buNone/>
            </a:pPr>
            <a:r>
              <a:rPr lang="en-US" sz="2200" b="1" dirty="0">
                <a:solidFill>
                  <a:srgbClr val="B7780A"/>
                </a:solidFill>
                <a:latin typeface="Calibri" pitchFamily="34" charset="0"/>
                <a:ea typeface="Calibri" pitchFamily="34" charset="-122"/>
                <a:cs typeface="Calibri" pitchFamily="34" charset="-120"/>
              </a:rPr>
              <a:t>Next</a:t>
            </a:r>
            <a:endParaRPr lang="en-US" sz="2200" dirty="0"/>
          </a:p>
        </p:txBody>
      </p:sp>
      <p:sp>
        <p:nvSpPr>
          <p:cNvPr id="13" name="Text 11"/>
          <p:cNvSpPr txBox="1"/>
          <p:nvPr/>
        </p:nvSpPr>
        <p:spPr>
          <a:xfrm>
            <a:off x="8321040" y="2286000"/>
            <a:ext cx="3200400" cy="39319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B2433"/>
                </a:solidFill>
                <a:latin typeface="Calibri" pitchFamily="34" charset="0"/>
                <a:ea typeface="Calibri" pitchFamily="34" charset="-122"/>
                <a:cs typeface="Calibri" pitchFamily="34" charset="-120"/>
              </a:rPr>
              <a:t>User acceptance testing with the chapter</a:t>
            </a:r>
            <a:endParaRPr lang="en-US" sz="1600" dirty="0"/>
          </a:p>
          <a:p>
            <a:pPr marL="342900" indent="-342900">
              <a:spcAft>
                <a:spcPts val="1200"/>
              </a:spcAft>
              <a:buSzPct val="100000"/>
              <a:buChar char="•"/>
            </a:pPr>
            <a:r>
              <a:rPr lang="en-US" sz="1600" dirty="0">
                <a:solidFill>
                  <a:srgbClr val="1B2433"/>
                </a:solidFill>
                <a:latin typeface="Calibri" pitchFamily="34" charset="0"/>
                <a:ea typeface="Calibri" pitchFamily="34" charset="-122"/>
                <a:cs typeface="Calibri" pitchFamily="34" charset="-120"/>
              </a:rPr>
              <a:t>Native Filipino language review</a:t>
            </a:r>
            <a:endParaRPr lang="en-US" sz="1600" dirty="0"/>
          </a:p>
          <a:p>
            <a:pPr marL="342900" indent="-342900">
              <a:spcAft>
                <a:spcPts val="1200"/>
              </a:spcAft>
              <a:buSzPct val="100000"/>
              <a:buChar char="•"/>
            </a:pPr>
            <a:r>
              <a:rPr lang="en-US" sz="1600" dirty="0">
                <a:solidFill>
                  <a:srgbClr val="1B2433"/>
                </a:solidFill>
                <a:latin typeface="Calibri" pitchFamily="34" charset="0"/>
                <a:ea typeface="Calibri" pitchFamily="34" charset="-122"/>
                <a:cs typeface="Calibri" pitchFamily="34" charset="-120"/>
              </a:rPr>
              <a:t>Ethics and data-privacy clearance</a:t>
            </a:r>
            <a:endParaRPr lang="en-US" sz="1600" dirty="0"/>
          </a:p>
          <a:p>
            <a:pPr marL="342900" indent="-342900">
              <a:spcAft>
                <a:spcPts val="1200"/>
              </a:spcAft>
              <a:buSzPct val="100000"/>
              <a:buChar char="•"/>
            </a:pPr>
            <a:r>
              <a:rPr lang="en-US" sz="1600" dirty="0">
                <a:solidFill>
                  <a:srgbClr val="1B2433"/>
                </a:solidFill>
                <a:latin typeface="Calibri" pitchFamily="34" charset="0"/>
                <a:ea typeface="Calibri" pitchFamily="34" charset="-122"/>
                <a:cs typeface="Calibri" pitchFamily="34" charset="-120"/>
              </a:rPr>
              <a:t>Pilot rollout with the chapter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920240"/>
            <a:ext cx="7132320" cy="118872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Salamat po.</a:t>
            </a:r>
            <a:endParaRPr lang="en-US" sz="6000" dirty="0"/>
          </a:p>
        </p:txBody>
      </p:sp>
      <p:sp>
        <p:nvSpPr>
          <p:cNvPr id="3" name="Text 1"/>
          <p:cNvSpPr txBox="1"/>
          <p:nvPr/>
        </p:nvSpPr>
        <p:spPr>
          <a:xfrm>
            <a:off x="731520" y="3154680"/>
            <a:ext cx="7132320" cy="548640"/>
          </a:xfrm>
          <a:prstGeom prst="rect">
            <a:avLst/>
          </a:prstGeom>
          <a:noFill/>
          <a:ln/>
        </p:spPr>
        <p:txBody>
          <a:bodyPr wrap="square" lIns="0" tIns="0" rIns="0" bIns="0" rtlCol="0" anchor="ctr"/>
          <a:lstStyle/>
          <a:p>
            <a:pPr indent="0" marL="0">
              <a:buNone/>
            </a:pPr>
            <a:r>
              <a:rPr lang="en-US" sz="2800" b="1" dirty="0">
                <a:solidFill>
                  <a:srgbClr val="F5A524"/>
                </a:solidFill>
                <a:latin typeface="Calibri" pitchFamily="34" charset="0"/>
                <a:ea typeface="Calibri" pitchFamily="34" charset="-122"/>
                <a:cs typeface="Calibri" pitchFamily="34" charset="-120"/>
              </a:rPr>
              <a:t>Questions and live demo</a:t>
            </a:r>
            <a:endParaRPr lang="en-US" sz="2800" dirty="0"/>
          </a:p>
        </p:txBody>
      </p:sp>
      <p:sp>
        <p:nvSpPr>
          <p:cNvPr id="4" name="Text 2"/>
          <p:cNvSpPr txBox="1"/>
          <p:nvPr/>
        </p:nvSpPr>
        <p:spPr>
          <a:xfrm>
            <a:off x="731520" y="4114800"/>
            <a:ext cx="7132320" cy="457200"/>
          </a:xfrm>
          <a:prstGeom prst="rect">
            <a:avLst/>
          </a:prstGeom>
          <a:noFill/>
          <a:ln/>
        </p:spPr>
        <p:txBody>
          <a:bodyPr wrap="square" lIns="0" tIns="0" rIns="0" bIns="0" rtlCol="0" anchor="ctr"/>
          <a:lstStyle/>
          <a:p>
            <a:pPr indent="0" marL="0">
              <a:buNone/>
            </a:pPr>
            <a:r>
              <a:rPr lang="en-US" sz="1800" dirty="0">
                <a:solidFill>
                  <a:srgbClr val="D6DEEA"/>
                </a:solidFill>
                <a:latin typeface="Calibri" pitchFamily="34" charset="0"/>
                <a:ea typeface="Calibri" pitchFamily="34" charset="-122"/>
                <a:cs typeface="Calibri" pitchFamily="34" charset="-120"/>
              </a:rPr>
              <a:t>TrikeKoTo — a tricycle ride-hailing and dispatch system for TODA</a:t>
            </a:r>
            <a:endParaRPr lang="en-US" sz="1800" dirty="0"/>
          </a:p>
        </p:txBody>
      </p:sp>
      <p:sp>
        <p:nvSpPr>
          <p:cNvPr id="5" name="Text 3"/>
          <p:cNvSpPr txBox="1"/>
          <p:nvPr/>
        </p:nvSpPr>
        <p:spPr>
          <a:xfrm>
            <a:off x="731520" y="4572000"/>
            <a:ext cx="7132320" cy="457200"/>
          </a:xfrm>
          <a:prstGeom prst="rect">
            <a:avLst/>
          </a:prstGeom>
          <a:noFill/>
          <a:ln/>
        </p:spPr>
        <p:txBody>
          <a:bodyPr wrap="square" lIns="0" tIns="0" rIns="0" bIns="0" rtlCol="0" anchor="ctr"/>
          <a:lstStyle/>
          <a:p>
            <a:pPr indent="0" marL="0">
              <a:buNone/>
            </a:pPr>
            <a:r>
              <a:rPr lang="en-US" sz="1800" dirty="0">
                <a:solidFill>
                  <a:srgbClr val="D6DEEA"/>
                </a:solidFill>
                <a:latin typeface="Calibri" pitchFamily="34" charset="0"/>
                <a:ea typeface="Calibri" pitchFamily="34" charset="-122"/>
                <a:cs typeface="Calibri" pitchFamily="34" charset="-120"/>
              </a:rPr>
              <a:t>Jelo Jian Sabroso · PRMSU – San Marcelino</a:t>
            </a:r>
            <a:endParaRPr lang="en-US" sz="1800" dirty="0"/>
          </a:p>
        </p:txBody>
      </p:sp>
      <p:sp>
        <p:nvSpPr>
          <p:cNvPr id="6" name="Shape 4"/>
          <p:cNvSpPr/>
          <p:nvPr/>
        </p:nvSpPr>
        <p:spPr>
          <a:xfrm>
            <a:off x="8650224" y="466344"/>
            <a:ext cx="2826536" cy="5925312"/>
          </a:xfrm>
          <a:prstGeom prst="roundRect">
            <a:avLst>
              <a:gd name="adj" fmla="val 4529"/>
            </a:avLst>
          </a:prstGeom>
          <a:solidFill>
            <a:srgbClr val="FFFFFF"/>
          </a:solidFill>
          <a:ln w="12700">
            <a:solidFill>
              <a:srgbClr val="D3D9E2"/>
            </a:solidFill>
            <a:prstDash val="solid"/>
          </a:ln>
          <a:effectLst>
            <a:outerShdw sx="100000" sy="100000" kx="0" ky="0" algn="bl" rotWithShape="0" blurRad="101600" dist="25400" dir="5400000">
              <a:srgbClr val="000000">
                <a:alpha val="18000"/>
              </a:srgbClr>
            </a:outerShdw>
          </a:effectLst>
        </p:spPr>
      </p:sp>
      <p:pic>
        <p:nvPicPr>
          <p:cNvPr id="7" name="Image 0" descr="C:\Users\jeloooaceeew\Desktop\trikekoto-web\trikekoto_app\docs\manual\fig-4-tracking.png">    </p:cNvPr>
          <p:cNvPicPr>
            <a:picLocks noChangeAspect="1"/>
          </p:cNvPicPr>
          <p:nvPr/>
        </p:nvPicPr>
        <p:blipFill>
          <a:blip r:embed="rId1"/>
          <a:stretch>
            <a:fillRect/>
          </a:stretch>
        </p:blipFill>
        <p:spPr>
          <a:xfrm>
            <a:off x="8732520" y="548640"/>
            <a:ext cx="2661944" cy="57607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TrikeKoTo — Thesis Proposal Defense</dc:title>
  <dc:subject>PptxGenJS Presentation</dc:subject>
  <dc:creator>Jelo Jian Sabroso</dc:creator>
  <cp:lastModifiedBy>Jelo Jian Sabroso</cp:lastModifiedBy>
  <cp:revision>1</cp:revision>
  <dcterms:created xsi:type="dcterms:W3CDTF">2026-09-14T18:50:33Z</dcterms:created>
  <dcterms:modified xsi:type="dcterms:W3CDTF">2026-09-14T18:50:33Z</dcterms:modified>
</cp:coreProperties>
</file>